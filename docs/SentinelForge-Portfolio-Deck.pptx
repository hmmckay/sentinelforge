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fa0cfbfc846ab" /><Relationship Type="http://schemas.openxmlformats.org/officeDocument/2006/relationships/extended-properties" Target="/docProps/app.xml" Id="R337430b30bdf457f" /><Relationship Type="http://schemas.openxmlformats.org/officeDocument/2006/relationships/officeDocument" Target="/ppt/presentation.xml" Id="R36d34733ac3e41c4" /></Relationships>
</file>

<file path=ppt/presentation.xml><?xml version="1.0" encoding="utf-8"?>
<p:presentation xmlns:p="http://schemas.openxmlformats.org/presentationml/2006/main">
  <p:sldMasterIdLst>
    <p:sldMasterId xmlns:r="http://schemas.openxmlformats.org/officeDocument/2006/relationships" id="2147483648" r:id="Re119c9eb27104eee"/>
  </p:sldMasterIdLst>
  <p:notesMasterIdLst>
    <p:notesMasterId xmlns:r="http://schemas.openxmlformats.org/officeDocument/2006/relationships" r:id="R0d308f6d72784721"/>
  </p:notesMasterIdLst>
  <p:sldIdLst>
    <p:sldId xmlns:r="http://schemas.openxmlformats.org/officeDocument/2006/relationships" id="256" r:id="R4ab1efd464124674"/>
    <p:sldId xmlns:r="http://schemas.openxmlformats.org/officeDocument/2006/relationships" id="257" r:id="Rde54de61534d4af3"/>
    <p:sldId xmlns:r="http://schemas.openxmlformats.org/officeDocument/2006/relationships" id="258" r:id="R67da177711e04c2a"/>
    <p:sldId xmlns:r="http://schemas.openxmlformats.org/officeDocument/2006/relationships" id="259" r:id="R471ae088fe3447e1"/>
    <p:sldId xmlns:r="http://schemas.openxmlformats.org/officeDocument/2006/relationships" id="260" r:id="Rf19baf282836476e"/>
    <p:sldId xmlns:r="http://schemas.openxmlformats.org/officeDocument/2006/relationships" id="261" r:id="R56ec622aaff74f05"/>
    <p:sldId xmlns:r="http://schemas.openxmlformats.org/officeDocument/2006/relationships" id="262" r:id="R0b5cc15afb50426c"/>
    <p:sldId xmlns:r="http://schemas.openxmlformats.org/officeDocument/2006/relationships" id="263" r:id="Rf63e6507362e4201"/>
    <p:sldId xmlns:r="http://schemas.openxmlformats.org/officeDocument/2006/relationships" id="264" r:id="R747edf1547cb4014"/>
    <p:sldId xmlns:r="http://schemas.openxmlformats.org/officeDocument/2006/relationships" id="265" r:id="Rc1f8ddbdc5c84894"/>
    <p:sldId xmlns:r="http://schemas.openxmlformats.org/officeDocument/2006/relationships" id="266" r:id="R6c3c0e9c8c6f46f1"/>
    <p:sldId xmlns:r="http://schemas.openxmlformats.org/officeDocument/2006/relationships" id="267" r:id="R5409781af5c642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bb106b173949bb" /><Relationship Type="http://schemas.openxmlformats.org/officeDocument/2006/relationships/slideMaster" Target="/ppt/slideMasters/slideMaster1.xml" Id="Re119c9eb27104eee" /><Relationship Type="http://schemas.openxmlformats.org/officeDocument/2006/relationships/notesMaster" Target="/ppt/notesMasters/notesMaster1.xml" Id="R0d308f6d72784721" /><Relationship Type="http://schemas.openxmlformats.org/officeDocument/2006/relationships/presProps" Target="/ppt/presProps.xml" Id="R7aba83a1fe4e4e61" /><Relationship Type="http://schemas.openxmlformats.org/officeDocument/2006/relationships/tableStyles" Target="/ppt/tableStyles.xml" Id="R4a1d278585e64091" /><Relationship Type="http://schemas.openxmlformats.org/officeDocument/2006/relationships/slide" Target="/ppt/slides/slide1.xml" Id="R4ab1efd464124674" /><Relationship Type="http://schemas.openxmlformats.org/officeDocument/2006/relationships/slide" Target="/ppt/slides/slide2.xml" Id="Rde54de61534d4af3" /><Relationship Type="http://schemas.openxmlformats.org/officeDocument/2006/relationships/slide" Target="/ppt/slides/slide3.xml" Id="R67da177711e04c2a" /><Relationship Type="http://schemas.openxmlformats.org/officeDocument/2006/relationships/slide" Target="/ppt/slides/slide4.xml" Id="R471ae088fe3447e1" /><Relationship Type="http://schemas.openxmlformats.org/officeDocument/2006/relationships/slide" Target="/ppt/slides/slide5.xml" Id="Rf19baf282836476e" /><Relationship Type="http://schemas.openxmlformats.org/officeDocument/2006/relationships/slide" Target="/ppt/slides/slide6.xml" Id="R56ec622aaff74f05" /><Relationship Type="http://schemas.openxmlformats.org/officeDocument/2006/relationships/slide" Target="/ppt/slides/slide7.xml" Id="R0b5cc15afb50426c" /><Relationship Type="http://schemas.openxmlformats.org/officeDocument/2006/relationships/slide" Target="/ppt/slides/slide8.xml" Id="Rf63e6507362e4201" /><Relationship Type="http://schemas.openxmlformats.org/officeDocument/2006/relationships/slide" Target="/ppt/slides/slide9.xml" Id="R747edf1547cb4014" /><Relationship Type="http://schemas.openxmlformats.org/officeDocument/2006/relationships/slide" Target="/ppt/slides/slide10.xml" Id="Rc1f8ddbdc5c84894" /><Relationship Type="http://schemas.openxmlformats.org/officeDocument/2006/relationships/slide" Target="/ppt/slides/slide11.xml" Id="R6c3c0e9c8c6f46f1" /><Relationship Type="http://schemas.openxmlformats.org/officeDocument/2006/relationships/slide" Target="/ppt/slides/slide12.xml" Id="R5409781af5c642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03fdb59ac244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6f37a4d7274d4c" /><Relationship Type="http://schemas.openxmlformats.org/officeDocument/2006/relationships/notesMaster" Target="/ppt/notesMasters/notesMaster1.xml" Id="R445cfe15815c42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76aa3dbb284b8b" /><Relationship Type="http://schemas.openxmlformats.org/officeDocument/2006/relationships/notesMaster" Target="/ppt/notesMasters/notesMaster1.xml" Id="R7653924c223744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c2a4de084c4ea5" /><Relationship Type="http://schemas.openxmlformats.org/officeDocument/2006/relationships/notesMaster" Target="/ppt/notesMasters/notesMaster1.xml" Id="Rf6b7f6e9879240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7464caab5c48d4" /><Relationship Type="http://schemas.openxmlformats.org/officeDocument/2006/relationships/notesMaster" Target="/ppt/notesMasters/notesMaster1.xml" Id="Re87545d0df9145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f75f361089465d" /><Relationship Type="http://schemas.openxmlformats.org/officeDocument/2006/relationships/notesMaster" Target="/ppt/notesMasters/notesMaster1.xml" Id="R3378fa68fef045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b280b2727b461d" /><Relationship Type="http://schemas.openxmlformats.org/officeDocument/2006/relationships/notesMaster" Target="/ppt/notesMasters/notesMaster1.xml" Id="Ree47c24aa01b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5ccd2af6654000" /><Relationship Type="http://schemas.openxmlformats.org/officeDocument/2006/relationships/notesMaster" Target="/ppt/notesMasters/notesMaster1.xml" Id="R9bd4ddaa43a649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27d094405e4b99" /><Relationship Type="http://schemas.openxmlformats.org/officeDocument/2006/relationships/notesMaster" Target="/ppt/notesMasters/notesMaster1.xml" Id="Rdca7f17eb1244f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5216b836b74327" /><Relationship Type="http://schemas.openxmlformats.org/officeDocument/2006/relationships/notesMaster" Target="/ppt/notesMasters/notesMaster1.xml" Id="R79880eff2f9645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9915c6d8584404" /><Relationship Type="http://schemas.openxmlformats.org/officeDocument/2006/relationships/notesMaster" Target="/ppt/notesMasters/notesMaster1.xml" Id="R632a8e2c4c5c40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c68874c41d447a" /><Relationship Type="http://schemas.openxmlformats.org/officeDocument/2006/relationships/notesMaster" Target="/ppt/notesMasters/notesMaster1.xml" Id="Rd3b7b2421a6e4f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9b4c8ef2db42d4" /><Relationship Type="http://schemas.openxmlformats.org/officeDocument/2006/relationships/notesMaster" Target="/ppt/notesMasters/notesMaster1.xml" Id="R9b7b5950a71f4d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engineering claim: this is one inspectable system spanning endpoint behavior, telemetry, detection, investigation, and regression.</a:t>
            </a:r>
          </a:p>
          <a:p xmlns:a="http://schemas.openxmlformats.org/drawingml/2006/main">
            <a:r>
              <a:t/>
            </a:r>
          </a:p>
          <a:p xmlns:a="http://schemas.openxmlformats.org/drawingml/2006/main">
            <a:r>
              <a:t>[Sources]</a:t>
            </a:r>
          </a:p>
          <a:p xmlns:a="http://schemas.openxmlformats.org/drawingml/2006/main">
            <a:r>
              <a:t>- X:\dev\GitHub\SentinelForge\README.md:3-5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 numbers as regression evidence for the deterministic demo—not as throughput, scale, or detection-effectiveness claims. The screenshot is a real capture from the running Compose stack.</a:t>
            </a:r>
          </a:p>
          <a:p xmlns:a="http://schemas.openxmlformats.org/drawingml/2006/main">
            <a:r>
              <a:t/>
            </a:r>
          </a:p>
          <a:p xmlns:a="http://schemas.openxmlformats.org/drawingml/2006/main">
            <a:r>
              <a:t>[Sources]</a:t>
            </a:r>
          </a:p>
          <a:p xmlns:a="http://schemas.openxmlformats.org/drawingml/2006/main">
            <a:r>
              <a:t>- X:\dev\GitHub\SentinelForge\docs\assets\sentinelforge-overview.png</a:t>
            </a:r>
          </a:p>
          <a:p xmlns:a="http://schemas.openxmlformats.org/drawingml/2006/main">
            <a:r>
              <a:t>- X:\dev\GitHub\SentinelForge\docs\validation-report.md:65-71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differentiator is the closed loop. Each stage produces evidence the next stage can inspect, and the final regression path returns to the beginning.</a:t>
            </a:r>
          </a:p>
          <a:p xmlns:a="http://schemas.openxmlformats.org/drawingml/2006/main">
            <a:r>
              <a:t/>
            </a:r>
          </a:p>
          <a:p xmlns:a="http://schemas.openxmlformats.org/drawingml/2006/main">
            <a:r>
              <a:t>[Sources]</a:t>
            </a:r>
          </a:p>
          <a:p xmlns:a="http://schemas.openxmlformats.org/drawingml/2006/main">
            <a:r>
              <a:t>- X:\dev\GitHub\SentinelForge\README.md:30-50</a:t>
            </a:r>
          </a:p>
          <a:p xmlns:a="http://schemas.openxmlformats.org/drawingml/2006/main">
            <a:r>
              <a:t>- X:\dev\GitHub\SentinelForge\docs\architecture.md:3-46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tradeoff: one API process keeps event ordering and correlation state explicit for a small lab. The project documents multi-instance processing as future work rather than pretending a broker fleet is already justified.</a:t>
            </a:r>
          </a:p>
          <a:p xmlns:a="http://schemas.openxmlformats.org/drawingml/2006/main">
            <a:r>
              <a:t/>
            </a:r>
          </a:p>
          <a:p xmlns:a="http://schemas.openxmlformats.org/drawingml/2006/main">
            <a:r>
              <a:t>[Sources]</a:t>
            </a:r>
          </a:p>
          <a:p xmlns:a="http://schemas.openxmlformats.org/drawingml/2006/main">
            <a:r>
              <a:t>- X:\dev\GitHub\SentinelForge\docs\architecture.md:38-58</a:t>
            </a:r>
          </a:p>
          <a:p xmlns:a="http://schemas.openxmlformats.org/drawingml/2006/main">
            <a:r>
              <a:t>- X:\dev\GitHub\SentinelForge\docs\adr\0001-modular-monolith.md</a:t>
            </a:r>
          </a:p>
          <a:p xmlns:a="http://schemas.openxmlformats.org/drawingml/2006/main">
            <a:r>
              <a:t>- X:\dev\GitHub\SentinelForge\docs\adr\0003-windows-sensor-outside-compose.md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is enforced at multiple independent layers: environment gate, catalog allowlist, fixed implementations, containment checks, manifest creation, and cleanup verification. Portable tests did not prove live registry or Task Scheduler integration.</a:t>
            </a:r>
          </a:p>
          <a:p xmlns:a="http://schemas.openxmlformats.org/drawingml/2006/main">
            <a:r>
              <a:t/>
            </a:r>
          </a:p>
          <a:p xmlns:a="http://schemas.openxmlformats.org/drawingml/2006/main">
            <a:r>
              <a:t>[Sources]</a:t>
            </a:r>
          </a:p>
          <a:p xmlns:a="http://schemas.openxmlformats.org/drawingml/2006/main">
            <a:r>
              <a:t>- X:\dev\GitHub\SentinelForge\simulations\README.md:3-27</a:t>
            </a:r>
          </a:p>
          <a:p xmlns:a="http://schemas.openxmlformats.org/drawingml/2006/main">
            <a:r>
              <a:t>- X:\dev\GitHub\SentinelForge\simulations\catalog.json:3-68</a:t>
            </a:r>
          </a:p>
          <a:p xmlns:a="http://schemas.openxmlformats.org/drawingml/2006/main">
            <a:r>
              <a:t>- X:\dev\GitHub\SentinelForge\docs\threat-model.md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calling the spool lossless: its explicit safety bound trades oldest-batch retention for predictable disk use. Real Sysmon collection, Windows service installation, and DPAPI under the final service identity were not verified here.</a:t>
            </a:r>
          </a:p>
          <a:p xmlns:a="http://schemas.openxmlformats.org/drawingml/2006/main">
            <a:r>
              <a:t/>
            </a:r>
          </a:p>
          <a:p xmlns:a="http://schemas.openxmlformats.org/drawingml/2006/main">
            <a:r>
              <a:t>[Sources]</a:t>
            </a:r>
          </a:p>
          <a:p xmlns:a="http://schemas.openxmlformats.org/drawingml/2006/main">
            <a:r>
              <a:t>- X:\dev\GitHub\SentinelForge\agent\README.md:3-15</a:t>
            </a:r>
          </a:p>
          <a:p xmlns:a="http://schemas.openxmlformats.org/drawingml/2006/main">
            <a:r>
              <a:t>- X:\dev\GitHub\SentinelForge\agent\README.md:55-61</a:t>
            </a:r>
          </a:p>
          <a:p xmlns:a="http://schemas.openxmlformats.org/drawingml/2006/main">
            <a:r>
              <a:t>- X:\dev\GitHub\SentinelForge\schemas\normalized-event-v1.schema.json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intentionally not arbitrary Sigma compatibility. The narrow subset is valuable because validation, evaluation, and evidence formatting share one deterministic contract.</a:t>
            </a:r>
          </a:p>
          <a:p xmlns:a="http://schemas.openxmlformats.org/drawingml/2006/main">
            <a:r>
              <a:t/>
            </a:r>
          </a:p>
          <a:p xmlns:a="http://schemas.openxmlformats.org/drawingml/2006/main">
            <a:r>
              <a:t>[Sources]</a:t>
            </a:r>
          </a:p>
          <a:p xmlns:a="http://schemas.openxmlformats.org/drawingml/2006/main">
            <a:r>
              <a:t>- X:\dev\GitHub\SentinelForge\detections\README.md:3-5</a:t>
            </a:r>
          </a:p>
          <a:p xmlns:a="http://schemas.openxmlformats.org/drawingml/2006/main">
            <a:r>
              <a:t>- X:\dev\GitHub\SentinelForge\detections\rules\suspicious_process_sequence.yml:28-39</a:t>
            </a:r>
          </a:p>
          <a:p xmlns:a="http://schemas.openxmlformats.org/drawingml/2006/main">
            <a:r>
              <a:t>- X:\dev\GitHub\SentinelForge\detections\rules\ransomware_file_burst.yml:23-33</a:t>
            </a:r>
          </a:p>
          <a:p xmlns:a="http://schemas.openxmlformats.org/drawingml/2006/main">
            <a:r>
              <a:t>- X:\dev\GitHub\SentinelForge\backend\sentinelforge\services.py:384-407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 projection of normalized data, not kernel-attested truth. The implementation deliberately bounds results and clusters large graphs to protect the browser.</a:t>
            </a:r>
          </a:p>
          <a:p xmlns:a="http://schemas.openxmlformats.org/drawingml/2006/main">
            <a:r>
              <a:t/>
            </a:r>
          </a:p>
          <a:p xmlns:a="http://schemas.openxmlformats.org/drawingml/2006/main">
            <a:r>
              <a:t>[Sources]</a:t>
            </a:r>
          </a:p>
          <a:p xmlns:a="http://schemas.openxmlformats.org/drawingml/2006/main">
            <a:r>
              <a:t>- X:\dev\GitHub\SentinelForge\docs\assets\sentinelforge-timeline.png</a:t>
            </a:r>
          </a:p>
          <a:p xmlns:a="http://schemas.openxmlformats.org/drawingml/2006/main">
            <a:r>
              <a:t>- X:\dev\GitHub\SentinelForge\docs\timeline.md:3-17</a:t>
            </a:r>
          </a:p>
          <a:p xmlns:a="http://schemas.openxmlformats.org/drawingml/2006/main">
            <a:r>
              <a:t>- X:\dev\GitHub\SentinelForge\frontend\src\timeline\TimelineCanvas.tsx:123-204</a:t>
            </a:r>
          </a:p>
          <a:p xmlns:a="http://schemas.openxmlformats.org/drawingml/2006/main">
            <a:r>
              <a:t>- X:\dev\GitHub\SentinelForge\frontend\src\timeline\graph.ts:126-194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controls are appropriate for an isolated lab. They do not replace TLS termination, enterprise identity, multi-user RBAC, or internet-facing hardening.</a:t>
            </a:r>
          </a:p>
          <a:p xmlns:a="http://schemas.openxmlformats.org/drawingml/2006/main">
            <a:r>
              <a:t/>
            </a:r>
          </a:p>
          <a:p xmlns:a="http://schemas.openxmlformats.org/drawingml/2006/main">
            <a:r>
              <a:t>[Sources]</a:t>
            </a:r>
          </a:p>
          <a:p xmlns:a="http://schemas.openxmlformats.org/drawingml/2006/main">
            <a:r>
              <a:t>- X:\dev\GitHub\SentinelForge\compose.yaml:3-118</a:t>
            </a:r>
          </a:p>
          <a:p xmlns:a="http://schemas.openxmlformats.org/drawingml/2006/main">
            <a:r>
              <a:t>- X:\dev\GitHub\SentinelForge\docs\security-model.md:3-26</a:t>
            </a:r>
          </a:p>
          <a:p xmlns:a="http://schemas.openxmlformats.org/drawingml/2006/main">
            <a:r>
              <a:t>- X:\dev\GitHub\SentinelForge\backend\sentinelforge\security.py:14-52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report records host and container tests, live Compose flows, migration state, security headers, dependency audits, and deterministic replay. Hosted CodeQL, dependency review, and SBOM jobs are defined but were not independently executed locally.</a:t>
            </a:r>
          </a:p>
          <a:p xmlns:a="http://schemas.openxmlformats.org/drawingml/2006/main">
            <a:r>
              <a:t/>
            </a:r>
          </a:p>
          <a:p xmlns:a="http://schemas.openxmlformats.org/drawingml/2006/main">
            <a:r>
              <a:t>[Sources]</a:t>
            </a:r>
          </a:p>
          <a:p xmlns:a="http://schemas.openxmlformats.org/drawingml/2006/main">
            <a:r>
              <a:t>- X:\dev\GitHub\SentinelForge\docs\validation-report.md:3</a:t>
            </a:r>
          </a:p>
          <a:p xmlns:a="http://schemas.openxmlformats.org/drawingml/2006/main">
            <a:r>
              <a:t>- X:\dev\GitHub\SentinelForge\docs\validation-report.md:35-78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abilities synthesis: the project is strongest as evidence of cross-boundary engineering judgment, not as a claim that any single component equals a commercial platform.</a:t>
            </a:r>
          </a:p>
          <a:p xmlns:a="http://schemas.openxmlformats.org/drawingml/2006/main">
            <a:r>
              <a:t/>
            </a:r>
          </a:p>
          <a:p xmlns:a="http://schemas.openxmlformats.org/drawingml/2006/main">
            <a:r>
              <a:t>[Sources]</a:t>
            </a:r>
          </a:p>
          <a:p xmlns:a="http://schemas.openxmlformats.org/drawingml/2006/main">
            <a:r>
              <a:t>- X:\dev\GitHub\SentinelForge\README.md:251-253</a:t>
            </a:r>
          </a:p>
          <a:p xmlns:a="http://schemas.openxmlformats.org/drawingml/2006/main">
            <a:r>
              <a:t>- X:\dev\GitHub\SentinelForge\docs\validation-report.md:19-30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credibility: the documented boundary is a feature. It shows the ability to distinguish implementation evidence from product equivalence, platform scale, and adversary-resistant validation.</a:t>
            </a:r>
          </a:p>
          <a:p xmlns:a="http://schemas.openxmlformats.org/drawingml/2006/main">
            <a:r>
              <a:t/>
            </a:r>
          </a:p>
          <a:p xmlns:a="http://schemas.openxmlformats.org/drawingml/2006/main">
            <a:r>
              <a:t>[Sources]</a:t>
            </a:r>
          </a:p>
          <a:p xmlns:a="http://schemas.openxmlformats.org/drawingml/2006/main">
            <a:r>
              <a:t>- X:\dev\GitHub\SentinelForge\README.md:255-270</a:t>
            </a:r>
          </a:p>
          <a:p xmlns:a="http://schemas.openxmlformats.org/drawingml/2006/main">
            <a:r>
              <a:t>- X:\dev\GitHub\SentinelForge\docs\validation-report.md:80-90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5fb02cb5b346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52c050c6374922" /><Relationship Type="http://schemas.openxmlformats.org/officeDocument/2006/relationships/slideLayout" Target="/ppt/slideLayouts/slideLayout1.xml" Id="R3896fb0b6b0d47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96fb0b6b0d47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54a5bff6734786" /><Relationship Type="http://schemas.openxmlformats.org/officeDocument/2006/relationships/notesSlide" Target="/ppt/notesSlides/notesSlide1.xml" Id="R855c70bfb28a46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53665c48d04c13" /><Relationship Type="http://schemas.openxmlformats.org/officeDocument/2006/relationships/image" Target="/ppt/media/image.png" Id="R6c8facf2cd7e432f" /><Relationship Type="http://schemas.openxmlformats.org/officeDocument/2006/relationships/notesSlide" Target="/ppt/notesSlides/notesSlide2.xml" Id="Ra7c250337f444b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d6c60376b14fc7" /><Relationship Type="http://schemas.openxmlformats.org/officeDocument/2006/relationships/notesSlide" Target="/ppt/notesSlides/notesSlide3.xml" Id="R4c3bef6507324d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0dd85f54d94ce3" /><Relationship Type="http://schemas.openxmlformats.org/officeDocument/2006/relationships/notesSlide" Target="/ppt/notesSlides/notesSlide4.xml" Id="R5226080f9063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9ebaaedbe9438e" /><Relationship Type="http://schemas.openxmlformats.org/officeDocument/2006/relationships/notesSlide" Target="/ppt/notesSlides/notesSlide5.xml" Id="Rf399ccf0229941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412be0d64c4041" /><Relationship Type="http://schemas.openxmlformats.org/officeDocument/2006/relationships/notesSlide" Target="/ppt/notesSlides/notesSlide6.xml" Id="R0a27164086b742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faf4c31af744f7" /><Relationship Type="http://schemas.openxmlformats.org/officeDocument/2006/relationships/notesSlide" Target="/ppt/notesSlides/notesSlide7.xml" Id="R3b89813f170d48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e6e316da614fdb" /><Relationship Type="http://schemas.openxmlformats.org/officeDocument/2006/relationships/image" Target="/ppt/media/image2.png" Id="R5b15c65827934c8d" /><Relationship Type="http://schemas.openxmlformats.org/officeDocument/2006/relationships/notesSlide" Target="/ppt/notesSlides/notesSlide8.xml" Id="Rfd2f473a8bf44f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5cd80f404d4d99" /><Relationship Type="http://schemas.openxmlformats.org/officeDocument/2006/relationships/notesSlide" Target="/ppt/notesSlides/notesSlide9.xml" Id="Rf26d01a4841b4b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5693575c134a2d" /><Relationship Type="http://schemas.openxmlformats.org/officeDocument/2006/relationships/notesSlide" Target="/ppt/notesSlides/notesSlide10.xml" Id="R3aa645da28894a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f6ae9f30954140" /><Relationship Type="http://schemas.openxmlformats.org/officeDocument/2006/relationships/notesSlide" Target="/ppt/notesSlides/notesSlide11.xml" Id="R00794329163b46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901c4353d74e32" /><Relationship Type="http://schemas.openxmlformats.org/officeDocument/2006/relationships/notesSlide" Target="/ppt/notesSlides/notesSlide12.xml" Id="Recd559fac0504c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C2B9542A-CBE1-48B8-A3CE-EA0B8F3A53D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spcAft>
                <a:spcPts val="0"/>
              </a:spcAft>
              <a:buNone/>
              <a:defRPr sz="6000">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SentinelForge</a:t>
            </a:r>
          </a:p>
        </p:txBody>
      </p:sp>
      <p:sp>
        <p:nvSpPr>
          <p:cNvPr id="2" name="Subtitle-4-2">
            <a:extLst xmlns:a="http://schemas.openxmlformats.org/drawingml/2006/main">
              <a:ext uri="{FF2B5EF4-FFF2-40B4-BE49-F238E27FC236}">
                <a16:creationId xmlns:a16="http://schemas.microsoft.com/office/drawing/2014/main" id="{1AFC78A5-B2B4-446C-8E99-2AFFA8866DF4}"/>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8000"/>
              </a:lnSpc>
              <a:buNone/>
              <a:defRPr sz="2400">
                <a:solidFill>
                  <a:srgbClr val="000000"/>
                </a:solidFill>
                <a:latin typeface="Helvetica Neue"/>
                <a:ea typeface="Helvetica Neue"/>
                <a:cs typeface="Helvetica Neue"/>
              </a:defRPr>
            </a:pPr>
            <a:r>
              <a:rPr sz="1800" b="0">
                <a:solidFill>
                  <a:srgbClr val="4B5563"/>
                </a:solidFill>
                <a:latin typeface="Helvetica Neue"/>
                <a:ea typeface="Helvetica Neue"/>
                <a:cs typeface="Helvetica Neue"/>
              </a:rPr>
              <a:t>A Docker-first lab for controlled ATT&amp;CK simulation,</a:t>
            </a:r>
            <a:br>
              <a:rPr sz="1800">
                <a:solidFill>
                  <a:srgbClr val="4B5563"/>
                </a:solidFill>
                <a:latin typeface="Helvetica Neue"/>
                <a:ea typeface="Helvetica Neue"/>
                <a:cs typeface="Helvetica Neue"/>
              </a:rPr>
            </a:br>
            <a:r>
              <a:rPr sz="1800" b="0">
                <a:solidFill>
                  <a:srgbClr val="4B5563"/>
                </a:solidFill>
                <a:latin typeface="Helvetica Neue"/>
                <a:ea typeface="Helvetica Neue"/>
                <a:cs typeface="Helvetica Neue"/>
              </a:rPr>
              <a:t>explainable detections, and graph investigation.</a:t>
            </a:r>
          </a:p>
        </p:txBody>
      </p:sp>
      <p:sp>
        <p:nvSpPr>
          <p:cNvPr id="3" name="Subtitle-4-3">
            <a:extLst xmlns:a="http://schemas.openxmlformats.org/drawingml/2006/main">
              <a:ext uri="{FF2B5EF4-FFF2-40B4-BE49-F238E27FC236}">
                <a16:creationId xmlns:a16="http://schemas.microsoft.com/office/drawing/2014/main" id="{06EB4D2C-8C02-4012-B150-A94E50A29AC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650" b="1">
                <a:solidFill>
                  <a:srgbClr val="18B98A"/>
                </a:solidFill>
                <a:latin typeface="Helvetica Neue"/>
                <a:ea typeface="Helvetica Neue"/>
                <a:cs typeface="Helvetica Neue"/>
              </a:rPr>
              <a:t>DEFENSIVE SECURITY PORTFOLIO</a:t>
            </a:r>
          </a:p>
        </p:txBody>
      </p:sp>
      <p:sp>
        <p:nvSpPr>
          <p:cNvPr id="4" name="SentinelForge-accent-rule">
            <a:extLst xmlns:a="http://schemas.openxmlformats.org/drawingml/2006/main">
              <a:ext uri="{FF2B5EF4-FFF2-40B4-BE49-F238E27FC236}">
                <a16:creationId xmlns:a16="http://schemas.microsoft.com/office/drawing/2014/main" id="{CCB72E12-D88C-4B5A-9027-910BAA2BFEE2}"/>
              </a:ext>
            </a:extLst>
          </p:cNvPr>
          <p:cNvSpPr>
            <a:spLocks xmlns:a="http://schemas.openxmlformats.org/drawingml/2006/main" noGrp="1"/>
          </p:cNvSpPr>
          <p:nvPr/>
        </p:nvSpPr>
        <p:spPr>
          <a:xfrm xmlns:a="http://schemas.openxmlformats.org/drawingml/2006/main">
            <a:off x="393668" y="1381125"/>
            <a:ext cx="876300" cy="47625"/>
          </a:xfrm>
          <a:prstGeom xmlns:a="http://schemas.openxmlformats.org/drawingml/2006/main" prst="rect">
            <a:avLst/>
          </a:prstGeom>
          <a:solidFill xmlns:a="http://schemas.openxmlformats.org/drawingml/2006/main">
            <a:srgbClr val="18B98A"/>
          </a:solidFill>
          <a:ln xmlns:a="http://schemas.openxmlformats.org/drawingml/2006/main" w="0">
            <a:noFill/>
            <a:prstDash val="solid"/>
          </a:ln>
        </p:spPr>
      </p:sp>
    </p:spTree>
    <p:extLst>
      <p:ext uri="{BB962C8B-B14F-4D97-AF65-F5344CB8AC3E}">
        <p14:creationId xmlns:p14="http://schemas.microsoft.com/office/powerpoint/2010/main" val="9184926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958CA820-ACE5-4C85-8335-04BDF39BBD7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88EC3F1B-A5BD-47B3-A2E3-E9BCADD6CDE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working lab—not a mockup</a:t>
            </a:r>
          </a:p>
        </p:txBody>
      </p:sp>
      <p:sp>
        <p:nvSpPr>
          <p:cNvPr id="3" name="Picture-3-4-backing">
            <a:extLst xmlns:a="http://schemas.openxmlformats.org/drawingml/2006/main">
              <a:ext uri="{FF2B5EF4-FFF2-40B4-BE49-F238E27FC236}">
                <a16:creationId xmlns:a16="http://schemas.microsoft.com/office/drawing/2014/main" id="{2D54022C-E266-4C27-BAD7-2B724BB4F5FE}"/>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Google-Shape-534-p58-5">
            <a:extLst xmlns:a="http://schemas.openxmlformats.org/drawingml/2006/main">
              <a:ext uri="{FF2B5EF4-FFF2-40B4-BE49-F238E27FC236}">
                <a16:creationId xmlns:a16="http://schemas.microsoft.com/office/drawing/2014/main" id="{66548238-B5CD-49C1-8F0E-BD9ED921EB18}"/>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900"/>
              </a:spcAft>
              <a:buNone/>
              <a:defRPr sz="2400">
                <a:solidFill>
                  <a:srgbClr val="000000"/>
                </a:solidFill>
                <a:latin typeface="Helvetica Neue"/>
                <a:ea typeface="Helvetica Neue"/>
                <a:cs typeface="Helvetica Neue"/>
              </a:defRPr>
            </a:pPr>
            <a:r>
              <a:rPr sz="1800" b="1">
                <a:solidFill>
                  <a:srgbClr val="18B98A"/>
                </a:solidFill>
                <a:latin typeface="Helvetica Neue"/>
                <a:ea typeface="Helvetica Neue"/>
                <a:cs typeface="Helvetica Neue"/>
              </a:rPr>
              <a:t>Real seed-1337 Compose capture</a:t>
            </a:r>
          </a:p>
          <a:p xmlns:a="http://schemas.openxmlformats.org/drawingml/2006/main">
            <a:pPr algn="l">
              <a:lnSpc>
                <a:spcPct val="118000"/>
              </a:lnSpc>
              <a:buNone/>
              <a:defRPr sz="2400">
                <a:solidFill>
                  <a:srgbClr val="000000"/>
                </a:solidFill>
                <a:latin typeface="Helvetica Neue"/>
                <a:ea typeface="Helvetica Neue"/>
                <a:cs typeface="Helvetica Neue"/>
              </a:defRPr>
            </a:pPr>
            <a:r>
              <a:rPr sz="1500" b="0">
                <a:solidFill>
                  <a:srgbClr val="4B5563"/>
                </a:solidFill>
                <a:latin typeface="Helvetica Neue"/>
                <a:ea typeface="Helvetica Neue"/>
                <a:cs typeface="Helvetica Neue"/>
              </a:rPr>
              <a:t>19 normalized events · 7 alerts</a:t>
            </a:r>
            <a:br>
              <a:rPr sz="1500">
                <a:solidFill>
                  <a:srgbClr val="4B5563"/>
                </a:solidFill>
                <a:latin typeface="Helvetica Neue"/>
                <a:ea typeface="Helvetica Neue"/>
                <a:cs typeface="Helvetica Neue"/>
              </a:rPr>
            </a:br>
            <a:r>
              <a:rPr sz="1500" b="0">
                <a:solidFill>
                  <a:srgbClr val="4B5563"/>
                </a:solidFill>
                <a:latin typeface="Helvetica Neue"/>
                <a:ea typeface="Helvetica Neue"/>
                <a:cs typeface="Helvetica Neue"/>
              </a:rPr>
              <a:t>27 graph nodes · 39 typed edges</a:t>
            </a:r>
            <a:br>
              <a:rPr sz="1500">
                <a:solidFill>
                  <a:srgbClr val="4B5563"/>
                </a:solidFill>
                <a:latin typeface="Helvetica Neue"/>
                <a:ea typeface="Helvetica Neue"/>
                <a:cs typeface="Helvetica Neue"/>
              </a:rPr>
            </a:br>
            <a:r>
              <a:rPr sz="1500" b="0">
                <a:solidFill>
                  <a:srgbClr val="4B5563"/>
                </a:solidFill>
                <a:latin typeface="Helvetica Neue"/>
                <a:ea typeface="Helvetica Neue"/>
                <a:cs typeface="Helvetica Neue"/>
              </a:rPr>
              <a:t>8 of 9 cataloged techniques covered by rules</a:t>
            </a:r>
            <a:br>
              <a:rPr sz="1500">
                <a:solidFill>
                  <a:srgbClr val="4B5563"/>
                </a:solidFill>
                <a:latin typeface="Helvetica Neue"/>
                <a:ea typeface="Helvetica Neue"/>
                <a:cs typeface="Helvetica Neue"/>
              </a:rPr>
            </a:br>
            <a:r>
              <a:rPr sz="1500" b="0">
                <a:solidFill>
                  <a:srgbClr val="4B5563"/>
                </a:solidFill>
                <a:latin typeface="Helvetica Neue"/>
                <a:ea typeface="Helvetica Neue"/>
                <a:cs typeface="Helvetica Neue"/>
              </a:rPr>
              <a:t>Repeat seeding remained idempotent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c8facf2cd7e432f"/>
          <a:stretch xmlns:a="http://schemas.openxmlformats.org/drawingml/2006/main"/>
        </p:blipFill>
        <p:spPr>
          <a:xfrm xmlns:a="http://schemas.openxmlformats.org/drawingml/2006/main">
            <a:off x="6269069" y="1100810"/>
            <a:ext cx="5539740" cy="4193275"/>
          </a:xfrm>
          <a:prstGeom xmlns:a="http://schemas.openxmlformats.org/drawingml/2006/main" prst="roundRect">
            <a:avLst>
              <a:gd name="adj" fmla="val 2063"/>
            </a:avLst>
          </a:prstGeom>
        </p:spPr>
      </p:pic>
    </p:spTree>
    <p:extLst>
      <p:ext uri="{BB962C8B-B14F-4D97-AF65-F5344CB8AC3E}">
        <p14:creationId xmlns:p14="http://schemas.microsoft.com/office/powerpoint/2010/main" val="9926097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5860B17B-0AEE-4669-89A4-2C223B14F62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C1810D7F-BEB1-46DB-BD51-017DAAF0AB4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 built the complete detection loop</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749B4A8-D96F-4AB5-BFB0-1BD8FC067BD4}"/>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E35822F5-94FE-45D3-B515-BE0661D19224}"/>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EEBD151D-0FFB-4E38-94B8-BD042D03E889}"/>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31674730-A053-4BCA-BC6D-56B5A4D3895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16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01 · GENERATE</a:t>
            </a:r>
          </a:p>
        </p:txBody>
      </p:sp>
      <p:sp>
        <p:nvSpPr>
          <p:cNvPr id="8" name="Content-Placeholder-15-9">
            <a:extLst xmlns:a="http://schemas.openxmlformats.org/drawingml/2006/main">
              <a:ext uri="{FF2B5EF4-FFF2-40B4-BE49-F238E27FC236}">
                <a16:creationId xmlns:a16="http://schemas.microsoft.com/office/drawing/2014/main" id="{CF925910-CDCB-4B99-BD5C-3952DDF3FB3C}"/>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16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02 · INTERPRET</a:t>
            </a:r>
          </a:p>
        </p:txBody>
      </p:sp>
      <p:sp>
        <p:nvSpPr>
          <p:cNvPr id="9" name="Content-Placeholder-15-10">
            <a:extLst xmlns:a="http://schemas.openxmlformats.org/drawingml/2006/main">
              <a:ext uri="{FF2B5EF4-FFF2-40B4-BE49-F238E27FC236}">
                <a16:creationId xmlns:a16="http://schemas.microsoft.com/office/drawing/2014/main" id="{ADF66FF6-0257-4AF3-8344-EC744D8B0DD4}"/>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16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03 · INVESTIGATE</a:t>
            </a:r>
          </a:p>
        </p:txBody>
      </p:sp>
      <p:sp>
        <p:nvSpPr>
          <p:cNvPr id="10" name="Text-Placeholder-16-11">
            <a:extLst xmlns:a="http://schemas.openxmlformats.org/drawingml/2006/main">
              <a:ext uri="{FF2B5EF4-FFF2-40B4-BE49-F238E27FC236}">
                <a16:creationId xmlns:a16="http://schemas.microsoft.com/office/drawing/2014/main" id="{63B26C6C-D436-4FBF-A360-200CAF56C9D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Telemetry to decisions</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Sysmon XML is normalized, stored, evaluated by a strict Sigma subset, and correlated across time windows.</a:t>
            </a:r>
          </a:p>
        </p:txBody>
      </p:sp>
      <p:sp>
        <p:nvSpPr>
          <p:cNvPr id="11" name="Text-Placeholder-16-12">
            <a:extLst xmlns:a="http://schemas.openxmlformats.org/drawingml/2006/main">
              <a:ext uri="{FF2B5EF4-FFF2-40B4-BE49-F238E27FC236}">
                <a16:creationId xmlns:a16="http://schemas.microsoft.com/office/drawing/2014/main" id="{3ED75D42-81CB-4F50-872E-FEC0D69D06F7}"/>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Controlled behavior</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Eight allowlisted scenarios—or deterministic synthetic telemetry—create known-positive and near-miss activity.</a:t>
            </a:r>
          </a:p>
        </p:txBody>
      </p:sp>
      <p:sp>
        <p:nvSpPr>
          <p:cNvPr id="12" name="Text-Placeholder-16-13">
            <a:extLst xmlns:a="http://schemas.openxmlformats.org/drawingml/2006/main">
              <a:ext uri="{FF2B5EF4-FFF2-40B4-BE49-F238E27FC236}">
                <a16:creationId xmlns:a16="http://schemas.microsoft.com/office/drawing/2014/main" id="{EA94C783-F6CB-4526-8884-BF404BDB1101}"/>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Evidence to regression</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Alerts expose why they fired; the timeline links evidence; cleanup and replay prove stability.</a:t>
            </a:r>
          </a:p>
        </p:txBody>
      </p:sp>
    </p:spTree>
    <p:extLst>
      <p:ext uri="{BB962C8B-B14F-4D97-AF65-F5344CB8AC3E}">
        <p14:creationId xmlns:p14="http://schemas.microsoft.com/office/powerpoint/2010/main" val="1544399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Google-Shape-532-p58-2">
            <a:extLst xmlns:a="http://schemas.openxmlformats.org/drawingml/2006/main">
              <a:ext uri="{FF2B5EF4-FFF2-40B4-BE49-F238E27FC236}">
                <a16:creationId xmlns:a16="http://schemas.microsoft.com/office/drawing/2014/main" id="{EF716216-90F3-44C4-B8DD-A0051B16032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17203116-A155-4A9E-BB47-B01B1462552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Trust boundaries shape the stack</a:t>
            </a:r>
          </a:p>
        </p:txBody>
      </p:sp>
      <p:sp>
        <p:nvSpPr>
          <p:cNvPr id="3" name="Picture-3-4-backing">
            <a:extLst xmlns:a="http://schemas.openxmlformats.org/drawingml/2006/main">
              <a:ext uri="{FF2B5EF4-FFF2-40B4-BE49-F238E27FC236}">
                <a16:creationId xmlns:a16="http://schemas.microsoft.com/office/drawing/2014/main" id="{F13EFA84-DBAD-484F-A758-6EA4EE85F743}"/>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Google-Shape-534-p58-5">
            <a:extLst xmlns:a="http://schemas.openxmlformats.org/drawingml/2006/main">
              <a:ext uri="{FF2B5EF4-FFF2-40B4-BE49-F238E27FC236}">
                <a16:creationId xmlns:a16="http://schemas.microsoft.com/office/drawing/2014/main" id="{F431A6F8-1AD9-40D3-B505-141144F7001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900"/>
              </a:spcAft>
              <a:buNone/>
              <a:defRPr sz="2400">
                <a:solidFill>
                  <a:srgbClr val="000000"/>
                </a:solidFill>
                <a:latin typeface="Helvetica Neue"/>
                <a:ea typeface="Helvetica Neue"/>
                <a:cs typeface="Helvetica Neue"/>
              </a:defRPr>
            </a:pPr>
            <a:r>
              <a:rPr sz="1800" b="1">
                <a:solidFill>
                  <a:srgbClr val="18B98A"/>
                </a:solidFill>
                <a:latin typeface="Helvetica Neue"/>
                <a:ea typeface="Helvetica Neue"/>
                <a:cs typeface="Helvetica Neue"/>
              </a:rPr>
              <a:t>A bounded modular monolith</a:t>
            </a:r>
          </a:p>
          <a:p xmlns:a="http://schemas.openxmlformats.org/drawingml/2006/main">
            <a:pPr algn="l">
              <a:lnSpc>
                <a:spcPct val="118000"/>
              </a:lnSpc>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Windows stays outside Compose because Event Log and DPAPI are host boundaries.</a:t>
            </a:r>
            <a:br>
              <a:rPr sz="1425">
                <a:solidFill>
                  <a:srgbClr val="4B5563"/>
                </a:solidFill>
                <a:latin typeface="Helvetica Neue"/>
                <a:ea typeface="Helvetica Neue"/>
                <a:cs typeface="Helvetica Neue"/>
              </a:rPr>
            </a:br>
            <a:r>
              <a:rPr sz="1425" b="0">
                <a:solidFill>
                  <a:srgbClr val="4B5563"/>
                </a:solidFill>
                <a:latin typeface="Helvetica Neue"/>
                <a:ea typeface="Helvetica Neue"/>
                <a:cs typeface="Helvetica Neue"/>
              </a:rPr>
              <a:t>The API owns ordering-sensitive ingestion and correlation.</a:t>
            </a:r>
            <a:br>
              <a:rPr sz="1425">
                <a:solidFill>
                  <a:srgbClr val="4B5563"/>
                </a:solidFill>
                <a:latin typeface="Helvetica Neue"/>
                <a:ea typeface="Helvetica Neue"/>
                <a:cs typeface="Helvetica Neue"/>
              </a:rPr>
            </a:br>
            <a:r>
              <a:rPr sz="1425" b="0">
                <a:solidFill>
                  <a:srgbClr val="4B5563"/>
                </a:solidFill>
                <a:latin typeface="Helvetica Neue"/>
                <a:ea typeface="Helvetica Neue"/>
                <a:cs typeface="Helvetica Neue"/>
              </a:rPr>
              <a:t>PostgreSQL is internal-only; the dashboard and CLI use the API boundary.</a:t>
            </a:r>
          </a:p>
        </p:txBody>
      </p:sp>
      <p:sp>
        <p:nvSpPr>
          <p:cNvPr id="5" name="Architecture-field">
            <a:extLst xmlns:a="http://schemas.openxmlformats.org/drawingml/2006/main">
              <a:ext uri="{FF2B5EF4-FFF2-40B4-BE49-F238E27FC236}">
                <a16:creationId xmlns:a16="http://schemas.microsoft.com/office/drawing/2014/main" id="{C89690BA-56B6-4913-BA20-B9EFA9FBD02F}"/>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F8FBFC"/>
          </a:solidFill>
          <a:ln xmlns:a="http://schemas.openxmlformats.org/drawingml/2006/main" w="9525">
            <a:solidFill>
              <a:srgbClr val="B8BCC4"/>
            </a:solidFill>
            <a:prstDash val="solid"/>
          </a:ln>
        </p:spPr>
      </p:sp>
      <p:sp>
        <p:nvSpPr>
          <p:cNvPr id="6" name="Docker-network-boundary">
            <a:extLst xmlns:a="http://schemas.openxmlformats.org/drawingml/2006/main">
              <a:ext uri="{FF2B5EF4-FFF2-40B4-BE49-F238E27FC236}">
                <a16:creationId xmlns:a16="http://schemas.microsoft.com/office/drawing/2014/main" id="{6AD45B82-CF99-4F8F-B9AD-5C4A64F305E2}"/>
              </a:ext>
            </a:extLst>
          </p:cNvPr>
          <p:cNvSpPr>
            <a:spLocks xmlns:a="http://schemas.openxmlformats.org/drawingml/2006/main" noGrp="1"/>
          </p:cNvSpPr>
          <p:nvPr/>
        </p:nvSpPr>
        <p:spPr>
          <a:xfrm xmlns:a="http://schemas.openxmlformats.org/drawingml/2006/main">
            <a:off x="6477000" y="2676525"/>
            <a:ext cx="5105400" cy="2971800"/>
          </a:xfrm>
          <a:prstGeom xmlns:a="http://schemas.openxmlformats.org/drawingml/2006/main" prst="rect">
            <a:avLst/>
          </a:prstGeom>
          <a:noFill xmlns:a="http://schemas.openxmlformats.org/drawingml/2006/main"/>
          <a:ln xmlns:a="http://schemas.openxmlformats.org/drawingml/2006/main" w="9525">
            <a:solidFill>
              <a:srgbClr val="B8BCC4"/>
            </a:solidFill>
            <a:prstDash val="dash"/>
          </a:ln>
        </p:spPr>
      </p:sp>
      <p:sp>
        <p:nvSpPr>
          <p:cNvPr id="7" name="Architecture-connector-1">
            <a:extLst xmlns:a="http://schemas.openxmlformats.org/drawingml/2006/main">
              <a:ext uri="{FF2B5EF4-FFF2-40B4-BE49-F238E27FC236}">
                <a16:creationId xmlns:a16="http://schemas.microsoft.com/office/drawing/2014/main" id="{C9935915-F086-409F-86E2-355339E7AAA2}"/>
              </a:ext>
            </a:extLst>
          </p:cNvPr>
          <p:cNvSpPr>
            <a:spLocks xmlns:a="http://schemas.openxmlformats.org/drawingml/2006/main" noGrp="1"/>
          </p:cNvSpPr>
          <p:nvPr/>
        </p:nvSpPr>
        <p:spPr>
          <a:xfrm xmlns:a="http://schemas.openxmlformats.org/drawingml/2006/main">
            <a:off x="9039225" y="1362075"/>
            <a:ext cx="0" cy="323850"/>
          </a:xfrm>
          <a:prstGeom xmlns:a="http://schemas.openxmlformats.org/drawingml/2006/main" prst="line">
            <a:avLst/>
          </a:prstGeom>
          <a:noFill xmlns:a="http://schemas.openxmlformats.org/drawingml/2006/main"/>
          <a:ln xmlns:a="http://schemas.openxmlformats.org/drawingml/2006/main" w="28575">
            <a:solidFill>
              <a:srgbClr val="18B98A"/>
            </a:solidFill>
            <a:prstDash val="solid"/>
          </a:ln>
        </p:spPr>
      </p:sp>
      <p:sp>
        <p:nvSpPr>
          <p:cNvPr id="8" name="Architecture-connector-2">
            <a:extLst xmlns:a="http://schemas.openxmlformats.org/drawingml/2006/main">
              <a:ext uri="{FF2B5EF4-FFF2-40B4-BE49-F238E27FC236}">
                <a16:creationId xmlns:a16="http://schemas.microsoft.com/office/drawing/2014/main" id="{8DE97DD1-2E9C-4855-B714-4B80BE722E33}"/>
              </a:ext>
            </a:extLst>
          </p:cNvPr>
          <p:cNvSpPr>
            <a:spLocks xmlns:a="http://schemas.openxmlformats.org/drawingml/2006/main" noGrp="1"/>
          </p:cNvSpPr>
          <p:nvPr/>
        </p:nvSpPr>
        <p:spPr>
          <a:xfrm xmlns:a="http://schemas.openxmlformats.org/drawingml/2006/main">
            <a:off x="9039225" y="2352675"/>
            <a:ext cx="0" cy="400050"/>
          </a:xfrm>
          <a:prstGeom xmlns:a="http://schemas.openxmlformats.org/drawingml/2006/main" prst="line">
            <a:avLst/>
          </a:prstGeom>
          <a:noFill xmlns:a="http://schemas.openxmlformats.org/drawingml/2006/main"/>
          <a:ln xmlns:a="http://schemas.openxmlformats.org/drawingml/2006/main" w="28575">
            <a:solidFill>
              <a:srgbClr val="18B98A"/>
            </a:solidFill>
            <a:prstDash val="solid"/>
          </a:ln>
        </p:spPr>
      </p:sp>
      <p:sp>
        <p:nvSpPr>
          <p:cNvPr id="9" name="Architecture-connector-3">
            <a:extLst xmlns:a="http://schemas.openxmlformats.org/drawingml/2006/main">
              <a:ext uri="{FF2B5EF4-FFF2-40B4-BE49-F238E27FC236}">
                <a16:creationId xmlns:a16="http://schemas.microsoft.com/office/drawing/2014/main" id="{510A75C1-2350-4657-84F1-AC31A2F5F74B}"/>
              </a:ext>
            </a:extLst>
          </p:cNvPr>
          <p:cNvSpPr>
            <a:spLocks xmlns:a="http://schemas.openxmlformats.org/drawingml/2006/main" noGrp="1"/>
          </p:cNvSpPr>
          <p:nvPr/>
        </p:nvSpPr>
        <p:spPr>
          <a:xfrm xmlns:a="http://schemas.openxmlformats.org/drawingml/2006/main">
            <a:off x="7639050" y="3829050"/>
            <a:ext cx="209550" cy="542925"/>
          </a:xfrm>
          <a:prstGeom xmlns:a="http://schemas.openxmlformats.org/drawingml/2006/main" prst="line">
            <a:avLst/>
          </a:prstGeom>
          <a:noFill xmlns:a="http://schemas.openxmlformats.org/drawingml/2006/main"/>
          <a:ln xmlns:a="http://schemas.openxmlformats.org/drawingml/2006/main" w="28575">
            <a:solidFill>
              <a:srgbClr val="18B98A"/>
            </a:solidFill>
            <a:prstDash val="solid"/>
          </a:ln>
        </p:spPr>
      </p:sp>
      <p:sp>
        <p:nvSpPr>
          <p:cNvPr id="10" name="Architecture-connector-4">
            <a:extLst xmlns:a="http://schemas.openxmlformats.org/drawingml/2006/main">
              <a:ext uri="{FF2B5EF4-FFF2-40B4-BE49-F238E27FC236}">
                <a16:creationId xmlns:a16="http://schemas.microsoft.com/office/drawing/2014/main" id="{2FE16D89-A6A1-4FDB-B8A8-A0AB4DDE7A15}"/>
              </a:ext>
            </a:extLst>
          </p:cNvPr>
          <p:cNvSpPr>
            <a:spLocks xmlns:a="http://schemas.openxmlformats.org/drawingml/2006/main" noGrp="1"/>
          </p:cNvSpPr>
          <p:nvPr/>
        </p:nvSpPr>
        <p:spPr>
          <a:xfrm xmlns:a="http://schemas.openxmlformats.org/drawingml/2006/main">
            <a:off x="10220325" y="3829050"/>
            <a:ext cx="219075" cy="542925"/>
          </a:xfrm>
          <a:prstGeom xmlns:a="http://schemas.openxmlformats.org/drawingml/2006/main" prst="line">
            <a:avLst/>
          </a:prstGeom>
          <a:noFill xmlns:a="http://schemas.openxmlformats.org/drawingml/2006/main"/>
          <a:ln xmlns:a="http://schemas.openxmlformats.org/drawingml/2006/main" w="28575">
            <a:solidFill>
              <a:srgbClr val="18B98A"/>
            </a:solidFill>
            <a:prstDash val="solid"/>
          </a:ln>
        </p:spPr>
      </p:sp>
      <p:sp>
        <p:nvSpPr>
          <p:cNvPr id="11" name="Windows-lab-box">
            <a:extLst xmlns:a="http://schemas.openxmlformats.org/drawingml/2006/main">
              <a:ext uri="{FF2B5EF4-FFF2-40B4-BE49-F238E27FC236}">
                <a16:creationId xmlns:a16="http://schemas.microsoft.com/office/drawing/2014/main" id="{2D78E748-6C1B-4274-AE73-D0FBD2215C7D}"/>
              </a:ext>
            </a:extLst>
          </p:cNvPr>
          <p:cNvSpPr>
            <a:spLocks xmlns:a="http://schemas.openxmlformats.org/drawingml/2006/main" noGrp="1"/>
          </p:cNvSpPr>
          <p:nvPr/>
        </p:nvSpPr>
        <p:spPr>
          <a:xfrm xmlns:a="http://schemas.openxmlformats.org/drawingml/2006/main">
            <a:off x="6991350" y="666750"/>
            <a:ext cx="4095750" cy="695325"/>
          </a:xfrm>
          <a:prstGeom xmlns:a="http://schemas.openxmlformats.org/drawingml/2006/main" prst="roundRect">
            <a:avLst>
              <a:gd name="adj" fmla="val 10959"/>
            </a:avLst>
          </a:prstGeom>
          <a:solidFill xmlns:a="http://schemas.openxmlformats.org/drawingml/2006/main">
            <a:srgbClr val="EAF5FB"/>
          </a:solidFill>
          <a:ln xmlns:a="http://schemas.openxmlformats.org/drawingml/2006/main" w="9525">
            <a:solidFill>
              <a:srgbClr val="B8BCC4"/>
            </a:solidFill>
            <a:prstDash val="solid"/>
          </a:ln>
        </p:spPr>
      </p:sp>
      <p:sp>
        <p:nvSpPr>
          <p:cNvPr id="12" name="Windows-lab-title">
            <a:extLst xmlns:a="http://schemas.openxmlformats.org/drawingml/2006/main">
              <a:ext uri="{FF2B5EF4-FFF2-40B4-BE49-F238E27FC236}">
                <a16:creationId xmlns:a16="http://schemas.microsoft.com/office/drawing/2014/main" id="{7D66B7B3-967E-4B55-B0E8-13839D9D6242}"/>
              </a:ext>
            </a:extLst>
          </p:cNvPr>
          <p:cNvSpPr>
            <a:spLocks xmlns:a="http://schemas.openxmlformats.org/drawingml/2006/main" noGrp="1"/>
          </p:cNvSpPr>
          <p:nvPr/>
        </p:nvSpPr>
        <p:spPr>
          <a:xfrm xmlns:a="http://schemas.openxmlformats.org/drawingml/2006/main">
            <a:off x="7162800" y="7810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Isolated Windows lab</a:t>
            </a:r>
          </a:p>
        </p:txBody>
      </p:sp>
      <p:sp>
        <p:nvSpPr>
          <p:cNvPr id="13" name="Windows-lab-detail">
            <a:extLst xmlns:a="http://schemas.openxmlformats.org/drawingml/2006/main">
              <a:ext uri="{FF2B5EF4-FFF2-40B4-BE49-F238E27FC236}">
                <a16:creationId xmlns:a16="http://schemas.microsoft.com/office/drawing/2014/main" id="{FB72D2FE-B404-43B2-883A-DA256701DCF3}"/>
              </a:ext>
            </a:extLst>
          </p:cNvPr>
          <p:cNvSpPr>
            <a:spLocks xmlns:a="http://schemas.openxmlformats.org/drawingml/2006/main" noGrp="1"/>
          </p:cNvSpPr>
          <p:nvPr/>
        </p:nvSpPr>
        <p:spPr>
          <a:xfrm xmlns:a="http://schemas.openxmlformats.org/drawingml/2006/main">
            <a:off x="7162800" y="1066800"/>
            <a:ext cx="3752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B5563"/>
                </a:solidFill>
                <a:latin typeface="Helvetica Neue"/>
                <a:ea typeface="Helvetica Neue"/>
                <a:cs typeface="Helvetica Neue"/>
              </a:defRPr>
            </a:pPr>
            <a:r>
              <a:rPr sz="1125">
                <a:solidFill>
                  <a:srgbClr val="4B5563"/>
                </a:solidFill>
                <a:latin typeface="Helvetica Neue"/>
                <a:ea typeface="Helvetica Neue"/>
                <a:cs typeface="Helvetica Neue"/>
              </a:rPr>
              <a:t>Safe scenarios + Sysmon event channel</a:t>
            </a:r>
          </a:p>
        </p:txBody>
      </p:sp>
      <p:sp>
        <p:nvSpPr>
          <p:cNvPr id="14" name="Windows-sensor-box">
            <a:extLst xmlns:a="http://schemas.openxmlformats.org/drawingml/2006/main">
              <a:ext uri="{FF2B5EF4-FFF2-40B4-BE49-F238E27FC236}">
                <a16:creationId xmlns:a16="http://schemas.microsoft.com/office/drawing/2014/main" id="{4803064B-7DDB-41D9-B060-EB0CC16569F9}"/>
              </a:ext>
            </a:extLst>
          </p:cNvPr>
          <p:cNvSpPr>
            <a:spLocks xmlns:a="http://schemas.openxmlformats.org/drawingml/2006/main" noGrp="1"/>
          </p:cNvSpPr>
          <p:nvPr/>
        </p:nvSpPr>
        <p:spPr>
          <a:xfrm xmlns:a="http://schemas.openxmlformats.org/drawingml/2006/main">
            <a:off x="6991350" y="1685925"/>
            <a:ext cx="4095750" cy="666750"/>
          </a:xfrm>
          <a:prstGeom xmlns:a="http://schemas.openxmlformats.org/drawingml/2006/main" prst="roundRect">
            <a:avLst>
              <a:gd name="adj" fmla="val 11429"/>
            </a:avLst>
          </a:prstGeom>
          <a:solidFill xmlns:a="http://schemas.openxmlformats.org/drawingml/2006/main">
            <a:srgbClr val="F2F2F2"/>
          </a:solidFill>
          <a:ln xmlns:a="http://schemas.openxmlformats.org/drawingml/2006/main" w="9525">
            <a:solidFill>
              <a:srgbClr val="B8BCC4"/>
            </a:solidFill>
            <a:prstDash val="solid"/>
          </a:ln>
        </p:spPr>
      </p:sp>
      <p:sp>
        <p:nvSpPr>
          <p:cNvPr id="15" name="Windows-sensor-title">
            <a:extLst xmlns:a="http://schemas.openxmlformats.org/drawingml/2006/main">
              <a:ext uri="{FF2B5EF4-FFF2-40B4-BE49-F238E27FC236}">
                <a16:creationId xmlns:a16="http://schemas.microsoft.com/office/drawing/2014/main" id="{F0726E96-AD5F-4E55-B330-50137A12C982}"/>
              </a:ext>
            </a:extLst>
          </p:cNvPr>
          <p:cNvSpPr>
            <a:spLocks xmlns:a="http://schemas.openxmlformats.org/drawingml/2006/main" noGrp="1"/>
          </p:cNvSpPr>
          <p:nvPr/>
        </p:nvSpPr>
        <p:spPr>
          <a:xfrm xmlns:a="http://schemas.openxmlformats.org/drawingml/2006/main">
            <a:off x="7162800" y="1800225"/>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.NET 8 sensor</a:t>
            </a:r>
          </a:p>
        </p:txBody>
      </p:sp>
      <p:sp>
        <p:nvSpPr>
          <p:cNvPr id="16" name="Windows-sensor-detail">
            <a:extLst xmlns:a="http://schemas.openxmlformats.org/drawingml/2006/main">
              <a:ext uri="{FF2B5EF4-FFF2-40B4-BE49-F238E27FC236}">
                <a16:creationId xmlns:a16="http://schemas.microsoft.com/office/drawing/2014/main" id="{248F1149-8DE8-4E9F-B4D4-C0C3BE59D2DC}"/>
              </a:ext>
            </a:extLst>
          </p:cNvPr>
          <p:cNvSpPr>
            <a:spLocks xmlns:a="http://schemas.openxmlformats.org/drawingml/2006/main" noGrp="1"/>
          </p:cNvSpPr>
          <p:nvPr/>
        </p:nvSpPr>
        <p:spPr>
          <a:xfrm xmlns:a="http://schemas.openxmlformats.org/drawingml/2006/main">
            <a:off x="7162800" y="2085975"/>
            <a:ext cx="3752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B5563"/>
                </a:solidFill>
                <a:latin typeface="Helvetica Neue"/>
                <a:ea typeface="Helvetica Neue"/>
                <a:cs typeface="Helvetica Neue"/>
              </a:defRPr>
            </a:pPr>
            <a:r>
              <a:rPr sz="1125">
                <a:solidFill>
                  <a:srgbClr val="4B5563"/>
                </a:solidFill>
                <a:latin typeface="Helvetica Neue"/>
                <a:ea typeface="Helvetica Neue"/>
                <a:cs typeface="Helvetica Neue"/>
              </a:rPr>
              <a:t>Normalize · durable spool · authenticated batches</a:t>
            </a:r>
          </a:p>
        </p:txBody>
      </p:sp>
      <p:sp>
        <p:nvSpPr>
          <p:cNvPr id="17" name="Backend-api-box">
            <a:extLst xmlns:a="http://schemas.openxmlformats.org/drawingml/2006/main">
              <a:ext uri="{FF2B5EF4-FFF2-40B4-BE49-F238E27FC236}">
                <a16:creationId xmlns:a16="http://schemas.microsoft.com/office/drawing/2014/main" id="{13A53B82-259E-4F59-B6F3-03C6392FAE94}"/>
              </a:ext>
            </a:extLst>
          </p:cNvPr>
          <p:cNvSpPr>
            <a:spLocks xmlns:a="http://schemas.openxmlformats.org/drawingml/2006/main" noGrp="1"/>
          </p:cNvSpPr>
          <p:nvPr/>
        </p:nvSpPr>
        <p:spPr>
          <a:xfrm xmlns:a="http://schemas.openxmlformats.org/drawingml/2006/main">
            <a:off x="6705600" y="2914650"/>
            <a:ext cx="4667250" cy="914400"/>
          </a:xfrm>
          <a:prstGeom xmlns:a="http://schemas.openxmlformats.org/drawingml/2006/main" prst="roundRect">
            <a:avLst>
              <a:gd name="adj" fmla="val 8333"/>
            </a:avLst>
          </a:prstGeom>
          <a:solidFill xmlns:a="http://schemas.openxmlformats.org/drawingml/2006/main">
            <a:srgbClr val="DDF7EF"/>
          </a:solidFill>
          <a:ln xmlns:a="http://schemas.openxmlformats.org/drawingml/2006/main" w="9525">
            <a:solidFill>
              <a:srgbClr val="B8BCC4"/>
            </a:solidFill>
            <a:prstDash val="solid"/>
          </a:ln>
        </p:spPr>
      </p:sp>
      <p:sp>
        <p:nvSpPr>
          <p:cNvPr id="18" name="Backend-api-title">
            <a:extLst xmlns:a="http://schemas.openxmlformats.org/drawingml/2006/main">
              <a:ext uri="{FF2B5EF4-FFF2-40B4-BE49-F238E27FC236}">
                <a16:creationId xmlns:a16="http://schemas.microsoft.com/office/drawing/2014/main" id="{FBC3F3C5-5AFE-457B-99A0-53E4C7CB7ED2}"/>
              </a:ext>
            </a:extLst>
          </p:cNvPr>
          <p:cNvSpPr>
            <a:spLocks xmlns:a="http://schemas.openxmlformats.org/drawingml/2006/main" noGrp="1"/>
          </p:cNvSpPr>
          <p:nvPr/>
        </p:nvSpPr>
        <p:spPr>
          <a:xfrm xmlns:a="http://schemas.openxmlformats.org/drawingml/2006/main">
            <a:off x="6877050" y="3028950"/>
            <a:ext cx="432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FastAPI modular monolith</a:t>
            </a:r>
          </a:p>
        </p:txBody>
      </p:sp>
      <p:sp>
        <p:nvSpPr>
          <p:cNvPr id="19" name="Backend-api-detail">
            <a:extLst xmlns:a="http://schemas.openxmlformats.org/drawingml/2006/main">
              <a:ext uri="{FF2B5EF4-FFF2-40B4-BE49-F238E27FC236}">
                <a16:creationId xmlns:a16="http://schemas.microsoft.com/office/drawing/2014/main" id="{96D96853-4FDD-4865-A52A-1AF5DFA24802}"/>
              </a:ext>
            </a:extLst>
          </p:cNvPr>
          <p:cNvSpPr>
            <a:spLocks xmlns:a="http://schemas.openxmlformats.org/drawingml/2006/main" noGrp="1"/>
          </p:cNvSpPr>
          <p:nvPr/>
        </p:nvSpPr>
        <p:spPr>
          <a:xfrm xmlns:a="http://schemas.openxmlformats.org/drawingml/2006/main">
            <a:off x="6877050" y="3314700"/>
            <a:ext cx="432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B5563"/>
                </a:solidFill>
                <a:latin typeface="Helvetica Neue"/>
                <a:ea typeface="Helvetica Neue"/>
                <a:cs typeface="Helvetica Neue"/>
              </a:defRPr>
            </a:pPr>
            <a:r>
              <a:rPr sz="1125">
                <a:solidFill>
                  <a:srgbClr val="4B5563"/>
                </a:solidFill>
                <a:latin typeface="Helvetica Neue"/>
                <a:ea typeface="Helvetica Neue"/>
                <a:cs typeface="Helvetica Neue"/>
              </a:rPr>
              <a:t>Enroll · ingest · validate · detect · correlate · live feed</a:t>
            </a:r>
          </a:p>
        </p:txBody>
      </p:sp>
      <p:sp>
        <p:nvSpPr>
          <p:cNvPr id="20" name="Postgres-box">
            <a:extLst xmlns:a="http://schemas.openxmlformats.org/drawingml/2006/main">
              <a:ext uri="{FF2B5EF4-FFF2-40B4-BE49-F238E27FC236}">
                <a16:creationId xmlns:a16="http://schemas.microsoft.com/office/drawing/2014/main" id="{DD4C08D5-BA44-4728-9AC2-B1581CC02C4B}"/>
              </a:ext>
            </a:extLst>
          </p:cNvPr>
          <p:cNvSpPr>
            <a:spLocks xmlns:a="http://schemas.openxmlformats.org/drawingml/2006/main" noGrp="1"/>
          </p:cNvSpPr>
          <p:nvPr/>
        </p:nvSpPr>
        <p:spPr>
          <a:xfrm xmlns:a="http://schemas.openxmlformats.org/drawingml/2006/main">
            <a:off x="6572250" y="4371975"/>
            <a:ext cx="2476500" cy="962025"/>
          </a:xfrm>
          <a:prstGeom xmlns:a="http://schemas.openxmlformats.org/drawingml/2006/main" prst="roundRect">
            <a:avLst>
              <a:gd name="adj" fmla="val 7921"/>
            </a:avLst>
          </a:prstGeom>
          <a:solidFill xmlns:a="http://schemas.openxmlformats.org/drawingml/2006/main">
            <a:srgbClr val="F2F2F2"/>
          </a:solidFill>
          <a:ln xmlns:a="http://schemas.openxmlformats.org/drawingml/2006/main" w="9525">
            <a:solidFill>
              <a:srgbClr val="B8BCC4"/>
            </a:solidFill>
            <a:prstDash val="solid"/>
          </a:ln>
        </p:spPr>
      </p:sp>
      <p:sp>
        <p:nvSpPr>
          <p:cNvPr id="21" name="Postgres-title">
            <a:extLst xmlns:a="http://schemas.openxmlformats.org/drawingml/2006/main">
              <a:ext uri="{FF2B5EF4-FFF2-40B4-BE49-F238E27FC236}">
                <a16:creationId xmlns:a16="http://schemas.microsoft.com/office/drawing/2014/main" id="{48FB9A0A-653C-47AC-BDE4-FD7D07B3EB96}"/>
              </a:ext>
            </a:extLst>
          </p:cNvPr>
          <p:cNvSpPr>
            <a:spLocks xmlns:a="http://schemas.openxmlformats.org/drawingml/2006/main" noGrp="1"/>
          </p:cNvSpPr>
          <p:nvPr/>
        </p:nvSpPr>
        <p:spPr>
          <a:xfrm xmlns:a="http://schemas.openxmlformats.org/drawingml/2006/main">
            <a:off x="6743700" y="44862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PostgreSQL</a:t>
            </a:r>
          </a:p>
        </p:txBody>
      </p:sp>
      <p:sp>
        <p:nvSpPr>
          <p:cNvPr id="22" name="Postgres-detail">
            <a:extLst xmlns:a="http://schemas.openxmlformats.org/drawingml/2006/main">
              <a:ext uri="{FF2B5EF4-FFF2-40B4-BE49-F238E27FC236}">
                <a16:creationId xmlns:a16="http://schemas.microsoft.com/office/drawing/2014/main" id="{3DC3F0C5-58B1-49FD-8481-F54567045D64}"/>
              </a:ext>
            </a:extLst>
          </p:cNvPr>
          <p:cNvSpPr>
            <a:spLocks xmlns:a="http://schemas.openxmlformats.org/drawingml/2006/main" noGrp="1"/>
          </p:cNvSpPr>
          <p:nvPr/>
        </p:nvSpPr>
        <p:spPr>
          <a:xfrm xmlns:a="http://schemas.openxmlformats.org/drawingml/2006/main">
            <a:off x="6743700" y="4772025"/>
            <a:ext cx="21336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B5563"/>
                </a:solidFill>
                <a:latin typeface="Helvetica Neue"/>
                <a:ea typeface="Helvetica Neue"/>
                <a:cs typeface="Helvetica Neue"/>
              </a:defRPr>
            </a:pPr>
            <a:r>
              <a:rPr sz="1125">
                <a:solidFill>
                  <a:srgbClr val="4B5563"/>
                </a:solidFill>
                <a:latin typeface="Helvetica Neue"/>
                <a:ea typeface="Helvetica Neue"/>
                <a:cs typeface="Helvetica Neue"/>
              </a:rPr>
              <a:t>Events, rules, alerts, scenarios, correlation state</a:t>
            </a:r>
          </a:p>
        </p:txBody>
      </p:sp>
      <p:sp>
        <p:nvSpPr>
          <p:cNvPr id="23" name="Investigation-surfaces-box">
            <a:extLst xmlns:a="http://schemas.openxmlformats.org/drawingml/2006/main">
              <a:ext uri="{FF2B5EF4-FFF2-40B4-BE49-F238E27FC236}">
                <a16:creationId xmlns:a16="http://schemas.microsoft.com/office/drawing/2014/main" id="{8D3A1287-FF2E-4C0E-B96C-1E04F946E26F}"/>
              </a:ext>
            </a:extLst>
          </p:cNvPr>
          <p:cNvSpPr>
            <a:spLocks xmlns:a="http://schemas.openxmlformats.org/drawingml/2006/main" noGrp="1"/>
          </p:cNvSpPr>
          <p:nvPr/>
        </p:nvSpPr>
        <p:spPr>
          <a:xfrm xmlns:a="http://schemas.openxmlformats.org/drawingml/2006/main">
            <a:off x="9296400" y="4371975"/>
            <a:ext cx="2152650" cy="962025"/>
          </a:xfrm>
          <a:prstGeom xmlns:a="http://schemas.openxmlformats.org/drawingml/2006/main" prst="roundRect">
            <a:avLst>
              <a:gd name="adj" fmla="val 7921"/>
            </a:avLst>
          </a:prstGeom>
          <a:solidFill xmlns:a="http://schemas.openxmlformats.org/drawingml/2006/main">
            <a:srgbClr val="F2F2F2"/>
          </a:solidFill>
          <a:ln xmlns:a="http://schemas.openxmlformats.org/drawingml/2006/main" w="9525">
            <a:solidFill>
              <a:srgbClr val="B8BCC4"/>
            </a:solidFill>
            <a:prstDash val="solid"/>
          </a:ln>
        </p:spPr>
      </p:sp>
      <p:sp>
        <p:nvSpPr>
          <p:cNvPr id="24" name="Investigation-surfaces-title">
            <a:extLst xmlns:a="http://schemas.openxmlformats.org/drawingml/2006/main">
              <a:ext uri="{FF2B5EF4-FFF2-40B4-BE49-F238E27FC236}">
                <a16:creationId xmlns:a16="http://schemas.microsoft.com/office/drawing/2014/main" id="{8E54F7E8-13F8-4193-90DD-BF466843EC07}"/>
              </a:ext>
            </a:extLst>
          </p:cNvPr>
          <p:cNvSpPr>
            <a:spLocks xmlns:a="http://schemas.openxmlformats.org/drawingml/2006/main" noGrp="1"/>
          </p:cNvSpPr>
          <p:nvPr/>
        </p:nvSpPr>
        <p:spPr>
          <a:xfrm xmlns:a="http://schemas.openxmlformats.org/drawingml/2006/main">
            <a:off x="9467850" y="4486275"/>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Investigation</a:t>
            </a:r>
          </a:p>
        </p:txBody>
      </p:sp>
      <p:sp>
        <p:nvSpPr>
          <p:cNvPr id="25" name="Investigation-surfaces-detail">
            <a:extLst xmlns:a="http://schemas.openxmlformats.org/drawingml/2006/main">
              <a:ext uri="{FF2B5EF4-FFF2-40B4-BE49-F238E27FC236}">
                <a16:creationId xmlns:a16="http://schemas.microsoft.com/office/drawing/2014/main" id="{B8384743-44F2-4330-8ECA-F7A8D809BA2E}"/>
              </a:ext>
            </a:extLst>
          </p:cNvPr>
          <p:cNvSpPr>
            <a:spLocks xmlns:a="http://schemas.openxmlformats.org/drawingml/2006/main" noGrp="1"/>
          </p:cNvSpPr>
          <p:nvPr/>
        </p:nvSpPr>
        <p:spPr>
          <a:xfrm xmlns:a="http://schemas.openxmlformats.org/drawingml/2006/main">
            <a:off x="9467850" y="4772025"/>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B5563"/>
                </a:solidFill>
                <a:latin typeface="Helvetica Neue"/>
                <a:ea typeface="Helvetica Neue"/>
                <a:cs typeface="Helvetica Neue"/>
              </a:defRPr>
            </a:pPr>
            <a:r>
              <a:rPr sz="1125">
                <a:solidFill>
                  <a:srgbClr val="4B5563"/>
                </a:solidFill>
                <a:latin typeface="Helvetica Neue"/>
                <a:ea typeface="Helvetica Neue"/>
                <a:cs typeface="Helvetica Neue"/>
              </a:rPr>
              <a:t>React/Nginx dashboard + sentinelctl</a:t>
            </a:r>
          </a:p>
        </p:txBody>
      </p:sp>
      <p:sp>
        <p:nvSpPr>
          <p:cNvPr id="26" name="Architecture-label-1">
            <a:extLst xmlns:a="http://schemas.openxmlformats.org/drawingml/2006/main">
              <a:ext uri="{FF2B5EF4-FFF2-40B4-BE49-F238E27FC236}">
                <a16:creationId xmlns:a16="http://schemas.microsoft.com/office/drawing/2014/main" id="{4AAF4DF0-5624-469D-871C-57847AE66F01}"/>
              </a:ext>
            </a:extLst>
          </p:cNvPr>
          <p:cNvSpPr>
            <a:spLocks xmlns:a="http://schemas.openxmlformats.org/drawingml/2006/main" noGrp="1"/>
          </p:cNvSpPr>
          <p:nvPr/>
        </p:nvSpPr>
        <p:spPr>
          <a:xfrm xmlns:a="http://schemas.openxmlformats.org/drawingml/2006/main">
            <a:off x="9201150" y="24384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18B98A"/>
                </a:solidFill>
                <a:latin typeface="Helvetica Neue"/>
                <a:ea typeface="Helvetica Neue"/>
                <a:cs typeface="Helvetica Neue"/>
              </a:defRPr>
            </a:pPr>
            <a:r>
              <a:rPr sz="975" b="0">
                <a:solidFill>
                  <a:srgbClr val="18B98A"/>
                </a:solidFill>
                <a:latin typeface="Helvetica Neue"/>
                <a:ea typeface="Helvetica Neue"/>
                <a:cs typeface="Helvetica Neue"/>
              </a:rPr>
              <a:t>Authenticated JSON</a:t>
            </a:r>
          </a:p>
        </p:txBody>
      </p:sp>
      <p:sp>
        <p:nvSpPr>
          <p:cNvPr id="27" name="Architecture-label-2">
            <a:extLst xmlns:a="http://schemas.openxmlformats.org/drawingml/2006/main">
              <a:ext uri="{FF2B5EF4-FFF2-40B4-BE49-F238E27FC236}">
                <a16:creationId xmlns:a16="http://schemas.microsoft.com/office/drawing/2014/main" id="{659C31C3-484B-4392-8841-BF90F25DEE40}"/>
              </a:ext>
            </a:extLst>
          </p:cNvPr>
          <p:cNvSpPr>
            <a:spLocks xmlns:a="http://schemas.openxmlformats.org/drawingml/2006/main" noGrp="1"/>
          </p:cNvSpPr>
          <p:nvPr/>
        </p:nvSpPr>
        <p:spPr>
          <a:xfrm xmlns:a="http://schemas.openxmlformats.org/drawingml/2006/main">
            <a:off x="6600825" y="39814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18B98A"/>
                </a:solidFill>
                <a:latin typeface="Helvetica Neue"/>
                <a:ea typeface="Helvetica Neue"/>
                <a:cs typeface="Helvetica Neue"/>
              </a:defRPr>
            </a:pPr>
            <a:r>
              <a:rPr sz="975" b="0">
                <a:solidFill>
                  <a:srgbClr val="18B98A"/>
                </a:solidFill>
                <a:latin typeface="Helvetica Neue"/>
                <a:ea typeface="Helvetica Neue"/>
                <a:cs typeface="Helvetica Neue"/>
              </a:rPr>
              <a:t>read / write</a:t>
            </a:r>
          </a:p>
        </p:txBody>
      </p:sp>
      <p:sp>
        <p:nvSpPr>
          <p:cNvPr id="28" name="Architecture-label-3">
            <a:extLst xmlns:a="http://schemas.openxmlformats.org/drawingml/2006/main">
              <a:ext uri="{FF2B5EF4-FFF2-40B4-BE49-F238E27FC236}">
                <a16:creationId xmlns:a16="http://schemas.microsoft.com/office/drawing/2014/main" id="{0B6D3FC5-2792-4219-8D53-B0128A26744C}"/>
              </a:ext>
            </a:extLst>
          </p:cNvPr>
          <p:cNvSpPr>
            <a:spLocks xmlns:a="http://schemas.openxmlformats.org/drawingml/2006/main" noGrp="1"/>
          </p:cNvSpPr>
          <p:nvPr/>
        </p:nvSpPr>
        <p:spPr>
          <a:xfrm xmlns:a="http://schemas.openxmlformats.org/drawingml/2006/main">
            <a:off x="10306050" y="3981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18B98A"/>
                </a:solidFill>
                <a:latin typeface="Helvetica Neue"/>
                <a:ea typeface="Helvetica Neue"/>
                <a:cs typeface="Helvetica Neue"/>
              </a:defRPr>
            </a:pPr>
            <a:r>
              <a:rPr sz="975" b="0">
                <a:solidFill>
                  <a:srgbClr val="18B98A"/>
                </a:solidFill>
                <a:latin typeface="Helvetica Neue"/>
                <a:ea typeface="Helvetica Neue"/>
                <a:cs typeface="Helvetica Neue"/>
              </a:rPr>
              <a:t>API views</a:t>
            </a:r>
          </a:p>
        </p:txBody>
      </p:sp>
      <p:sp>
        <p:nvSpPr>
          <p:cNvPr id="29" name="Architecture-label-4">
            <a:extLst xmlns:a="http://schemas.openxmlformats.org/drawingml/2006/main">
              <a:ext uri="{FF2B5EF4-FFF2-40B4-BE49-F238E27FC236}">
                <a16:creationId xmlns:a16="http://schemas.microsoft.com/office/drawing/2014/main" id="{F9FF4F7D-B8E3-4B88-B8EC-C9B12C4568AD}"/>
              </a:ext>
            </a:extLst>
          </p:cNvPr>
          <p:cNvSpPr>
            <a:spLocks xmlns:a="http://schemas.openxmlformats.org/drawingml/2006/main" noGrp="1"/>
          </p:cNvSpPr>
          <p:nvPr/>
        </p:nvSpPr>
        <p:spPr>
          <a:xfrm xmlns:a="http://schemas.openxmlformats.org/drawingml/2006/main">
            <a:off x="6610350" y="2724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B5563"/>
                </a:solidFill>
                <a:latin typeface="Helvetica Neue"/>
                <a:ea typeface="Helvetica Neue"/>
                <a:cs typeface="Helvetica Neue"/>
              </a:defRPr>
            </a:pPr>
            <a:r>
              <a:rPr sz="975" b="1">
                <a:solidFill>
                  <a:srgbClr val="4B5563"/>
                </a:solidFill>
                <a:latin typeface="Helvetica Neue"/>
                <a:ea typeface="Helvetica Neue"/>
                <a:cs typeface="Helvetica Neue"/>
              </a:rPr>
              <a:t>DOCKER NETWORK</a:t>
            </a:r>
          </a:p>
        </p:txBody>
      </p:sp>
    </p:spTree>
    <p:extLst>
      <p:ext uri="{BB962C8B-B14F-4D97-AF65-F5344CB8AC3E}">
        <p14:creationId xmlns:p14="http://schemas.microsoft.com/office/powerpoint/2010/main" val="1683237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4140D8E7-2983-430B-87B0-CC87D426D9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793E386B-F756-4EA2-8AC4-E5CC4FBC8CB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Safe simulation is part of the security model</a:t>
            </a:r>
          </a:p>
        </p:txBody>
      </p:sp>
      <p:sp>
        <p:nvSpPr>
          <p:cNvPr id="3" name="Content-Placeholder-10-4">
            <a:extLst xmlns:a="http://schemas.openxmlformats.org/drawingml/2006/main">
              <a:ext uri="{FF2B5EF4-FFF2-40B4-BE49-F238E27FC236}">
                <a16:creationId xmlns:a16="http://schemas.microsoft.com/office/drawing/2014/main" id="{EF875398-2834-47CC-AE34-9AECAEB4F6A6}"/>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Lab mode + explicit live flag</a:t>
            </a:r>
          </a:p>
        </p:txBody>
      </p:sp>
      <p:sp>
        <p:nvSpPr>
          <p:cNvPr id="4" name="Content-Placeholder-10-5">
            <a:extLst xmlns:a="http://schemas.openxmlformats.org/drawingml/2006/main">
              <a:ext uri="{FF2B5EF4-FFF2-40B4-BE49-F238E27FC236}">
                <a16:creationId xmlns:a16="http://schemas.microsoft.com/office/drawing/2014/main" id="{3D611CFB-4BC0-40F8-BDF1-52E8117D6E33}"/>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GATE</a:t>
            </a:r>
          </a:p>
        </p:txBody>
      </p:sp>
      <p:sp>
        <p:nvSpPr>
          <p:cNvPr id="5" name="Content-Placeholder-10-6">
            <a:extLst xmlns:a="http://schemas.openxmlformats.org/drawingml/2006/main">
              <a:ext uri="{FF2B5EF4-FFF2-40B4-BE49-F238E27FC236}">
                <a16:creationId xmlns:a16="http://schemas.microsoft.com/office/drawing/2014/main" id="{F0D4E30B-7640-41C8-B5A0-C7C4A24B4AA8}"/>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SentinelForge sandbox only</a:t>
            </a:r>
          </a:p>
        </p:txBody>
      </p:sp>
      <p:sp>
        <p:nvSpPr>
          <p:cNvPr id="6" name="Content-Placeholder-10-7">
            <a:extLst xmlns:a="http://schemas.openxmlformats.org/drawingml/2006/main">
              <a:ext uri="{FF2B5EF4-FFF2-40B4-BE49-F238E27FC236}">
                <a16:creationId xmlns:a16="http://schemas.microsoft.com/office/drawing/2014/main" id="{AD2F2259-F421-483E-B8A9-3ED7FC83EE2A}"/>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SCOPE</a:t>
            </a:r>
          </a:p>
        </p:txBody>
      </p:sp>
      <p:sp>
        <p:nvSpPr>
          <p:cNvPr id="7" name="Content-Placeholder-10-8">
            <a:extLst xmlns:a="http://schemas.openxmlformats.org/drawingml/2006/main">
              <a:ext uri="{FF2B5EF4-FFF2-40B4-BE49-F238E27FC236}">
                <a16:creationId xmlns:a16="http://schemas.microsoft.com/office/drawing/2014/main" id="{6C148FAD-55F9-4E14-BD2D-A2DC2378008D}"/>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Manifest before mutation</a:t>
            </a:r>
          </a:p>
        </p:txBody>
      </p:sp>
      <p:sp>
        <p:nvSpPr>
          <p:cNvPr id="8" name="Content-Placeholder-10-9">
            <a:extLst xmlns:a="http://schemas.openxmlformats.org/drawingml/2006/main">
              <a:ext uri="{FF2B5EF4-FFF2-40B4-BE49-F238E27FC236}">
                <a16:creationId xmlns:a16="http://schemas.microsoft.com/office/drawing/2014/main" id="{8FAD1EB5-2EE6-46FF-9B81-DB34A7735946}"/>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REVERSAL</a:t>
            </a:r>
          </a:p>
        </p:txBody>
      </p:sp>
      <p:sp>
        <p:nvSpPr>
          <p:cNvPr id="9" name="Content-Placeholder-10-10">
            <a:extLst xmlns:a="http://schemas.openxmlformats.org/drawingml/2006/main">
              <a:ext uri="{FF2B5EF4-FFF2-40B4-BE49-F238E27FC236}">
                <a16:creationId xmlns:a16="http://schemas.microsoft.com/office/drawing/2014/main" id="{45552918-FDEA-4D36-BEA4-2161417B656B}"/>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Cleanup rechecks every artifact</a:t>
            </a:r>
          </a:p>
        </p:txBody>
      </p:sp>
      <p:sp>
        <p:nvSpPr>
          <p:cNvPr id="10" name="Content-Placeholder-10-11">
            <a:extLst xmlns:a="http://schemas.openxmlformats.org/drawingml/2006/main">
              <a:ext uri="{FF2B5EF4-FFF2-40B4-BE49-F238E27FC236}">
                <a16:creationId xmlns:a16="http://schemas.microsoft.com/office/drawing/2014/main" id="{81F7B30D-8FB8-48C2-A4F7-271899C9DD63}"/>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350" b="1">
                <a:solidFill>
                  <a:srgbClr val="18B98A"/>
                </a:solidFill>
                <a:latin typeface="Helvetica Neue"/>
                <a:ea typeface="Helvetica Neue"/>
                <a:cs typeface="Helvetica Neue"/>
              </a:rPr>
              <a:t>VERIFY</a:t>
            </a:r>
          </a:p>
        </p:txBody>
      </p:sp>
      <p:sp>
        <p:nvSpPr>
          <p:cNvPr id="11" name="Google-Shape-534-p58-12">
            <a:extLst xmlns:a="http://schemas.openxmlformats.org/drawingml/2006/main">
              <a:ext uri="{FF2B5EF4-FFF2-40B4-BE49-F238E27FC236}">
                <a16:creationId xmlns:a16="http://schemas.microsoft.com/office/drawing/2014/main" id="{4DD68EBC-E3E4-4178-A306-F2C0DD14BC52}"/>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900"/>
              </a:spcAft>
              <a:buNone/>
              <a:defRPr sz="2400">
                <a:solidFill>
                  <a:srgbClr val="000000"/>
                </a:solidFill>
                <a:latin typeface="Helvetica Neue"/>
                <a:ea typeface="Helvetica Neue"/>
                <a:cs typeface="Helvetica Neue"/>
              </a:defRPr>
            </a:pPr>
            <a:r>
              <a:rPr sz="1800" b="1">
                <a:solidFill>
                  <a:srgbClr val="18B98A"/>
                </a:solidFill>
                <a:latin typeface="Helvetica Neue"/>
                <a:ea typeface="Helvetica Neue"/>
                <a:cs typeface="Helvetica Neue"/>
              </a:rPr>
              <a:t>Behavior-shaped, deliberately benign</a:t>
            </a:r>
          </a:p>
          <a:p xmlns:a="http://schemas.openxmlformats.org/drawingml/2006/main">
            <a:pPr algn="l">
              <a:lnSpc>
                <a:spcPct val="115000"/>
              </a:lnSpc>
              <a:spcAft>
                <a:spcPts val="700"/>
              </a:spcAft>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Eight fixed scenarios create telemetry patterns without accepting arbitrary scripts, destinations, registry targets, task names, or source files.</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Run-key behavior uses a non-autostart key; scheduled tasks are disabled/no-op; ransomware behavior touches only generated marked files.</a:t>
            </a:r>
          </a:p>
        </p:txBody>
      </p:sp>
    </p:spTree>
    <p:extLst>
      <p:ext uri="{BB962C8B-B14F-4D97-AF65-F5344CB8AC3E}">
        <p14:creationId xmlns:p14="http://schemas.microsoft.com/office/powerpoint/2010/main" val="8305079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970CE38F-D16F-499E-866C-F2910265627F}"/>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07843C34-2FB2-462F-BAD6-CD024B62ABD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Telemetry is durable before it is delivered</a:t>
            </a:r>
          </a:p>
        </p:txBody>
      </p:sp>
      <p:sp>
        <p:nvSpPr>
          <p:cNvPr id="3" name="Content-Placeholder-9-4">
            <a:extLst xmlns:a="http://schemas.openxmlformats.org/drawingml/2006/main">
              <a:ext uri="{FF2B5EF4-FFF2-40B4-BE49-F238E27FC236}">
                <a16:creationId xmlns:a16="http://schemas.microsoft.com/office/drawing/2014/main" id="{C04D9809-3702-4743-8FB5-1D369D2169D4}"/>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Abstract the event source</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The Worker Service reads Sysmon through a testable source interface rather than coupling the pipeline to one channel implementation.</a:t>
            </a:r>
          </a:p>
        </p:txBody>
      </p:sp>
      <p:sp>
        <p:nvSpPr>
          <p:cNvPr id="4" name="Content-Placeholder-10-5">
            <a:extLst xmlns:a="http://schemas.openxmlformats.org/drawingml/2006/main">
              <a:ext uri="{FF2B5EF4-FFF2-40B4-BE49-F238E27FC236}">
                <a16:creationId xmlns:a16="http://schemas.microsoft.com/office/drawing/2014/main" id="{417EAD39-E1FB-46D7-B09A-5B904063F54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Normalize explicitly</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Known XML fields map into normalized-event v1; unsupported event IDs are rejected instead of becoming invented generic data.</a:t>
            </a:r>
          </a:p>
        </p:txBody>
      </p:sp>
      <p:sp>
        <p:nvSpPr>
          <p:cNvPr id="5" name="Content-Placeholder-9-6">
            <a:extLst xmlns:a="http://schemas.openxmlformats.org/drawingml/2006/main">
              <a:ext uri="{FF2B5EF4-FFF2-40B4-BE49-F238E27FC236}">
                <a16:creationId xmlns:a16="http://schemas.microsoft.com/office/drawing/2014/main" id="{B121AB73-6E4D-46ED-BC4F-135B8F23FF33}"/>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Spool before advancing</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A batch is persisted locally before the cursor moves; disk use is bounded and the oldest complete batch is dropped at the limit.</a:t>
            </a:r>
          </a:p>
        </p:txBody>
      </p:sp>
      <p:sp>
        <p:nvSpPr>
          <p:cNvPr id="6" name="Content-Placeholder-10-7">
            <a:extLst xmlns:a="http://schemas.openxmlformats.org/drawingml/2006/main">
              <a:ext uri="{FF2B5EF4-FFF2-40B4-BE49-F238E27FC236}">
                <a16:creationId xmlns:a16="http://schemas.microsoft.com/office/drawing/2014/main" id="{CB05D770-22E1-4338-8C43-63C5DFF337C4}"/>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Deliver with bounded failure</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Sensor identity is DPAPI-protected; authenticated batches retry with bounded backoff and report health state.</a:t>
            </a:r>
          </a:p>
        </p:txBody>
      </p:sp>
    </p:spTree>
    <p:extLst>
      <p:ext uri="{BB962C8B-B14F-4D97-AF65-F5344CB8AC3E}">
        <p14:creationId xmlns:p14="http://schemas.microsoft.com/office/powerpoint/2010/main" val="119948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BF727FEA-1581-4961-A685-513FDA757AA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BE357493-92A3-4698-B33F-C34C59541D7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Detection semantics are explicit and testable</a:t>
            </a:r>
          </a:p>
        </p:txBody>
      </p:sp>
      <p:sp>
        <p:nvSpPr>
          <p:cNvPr id="3" name="Google-Shape-534-p58-4">
            <a:extLst xmlns:a="http://schemas.openxmlformats.org/drawingml/2006/main">
              <a:ext uri="{FF2B5EF4-FFF2-40B4-BE49-F238E27FC236}">
                <a16:creationId xmlns:a16="http://schemas.microsoft.com/office/drawing/2014/main" id="{6BDA0A16-9850-4CF0-BCE6-5BAF2374F98B}"/>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Validated Sigma subset</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A documented YAML subset is deterministic. Unsupported conditions and modifiers fail validation instead of degrading silently.</a:t>
            </a:r>
          </a:p>
        </p:txBody>
      </p:sp>
      <p:sp>
        <p:nvSpPr>
          <p:cNvPr id="4" name="Content-Placeholder-1-5">
            <a:extLst xmlns:a="http://schemas.openxmlformats.org/drawingml/2006/main">
              <a:ext uri="{FF2B5EF4-FFF2-40B4-BE49-F238E27FC236}">
                <a16:creationId xmlns:a16="http://schemas.microsoft.com/office/drawing/2014/main" id="{65DF14C9-459F-45CD-BF39-4DA7FF5BE19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Explainable alerts</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Every result retains the rule version, reason, matched events, ATT&amp;CK tags, severity, confidence, false positives, and guidance.</a:t>
            </a:r>
          </a:p>
        </p:txBody>
      </p:sp>
      <p:sp>
        <p:nvSpPr>
          <p:cNvPr id="5" name="Content-Placeholder-2-6">
            <a:extLst xmlns:a="http://schemas.openxmlformats.org/drawingml/2006/main">
              <a:ext uri="{FF2B5EF4-FFF2-40B4-BE49-F238E27FC236}">
                <a16:creationId xmlns:a16="http://schemas.microsoft.com/office/drawing/2014/main" id="{B6563605-F97A-4416-8514-F4A5760DF17B}"/>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Stateful correlation</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Time windows, grouping keys, ordered sequences, thresholds, and deduplication cover behavior a single event cannot express.</a:t>
            </a:r>
          </a:p>
        </p:txBody>
      </p:sp>
    </p:spTree>
    <p:extLst>
      <p:ext uri="{BB962C8B-B14F-4D97-AF65-F5344CB8AC3E}">
        <p14:creationId xmlns:p14="http://schemas.microsoft.com/office/powerpoint/2010/main" val="20567343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13BD207C-4E00-4AE1-8B6F-D317251DD45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18765FD7-013F-4E77-AE87-8BD39B8697B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timeline built for investigation</a:t>
            </a:r>
          </a:p>
        </p:txBody>
      </p:sp>
      <p:sp>
        <p:nvSpPr>
          <p:cNvPr id="3" name="Picture-3-4-backing">
            <a:extLst xmlns:a="http://schemas.openxmlformats.org/drawingml/2006/main">
              <a:ext uri="{FF2B5EF4-FFF2-40B4-BE49-F238E27FC236}">
                <a16:creationId xmlns:a16="http://schemas.microsoft.com/office/drawing/2014/main" id="{D373D75F-FB15-4949-A087-89B0F74FC117}"/>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Google-Shape-534-p58-5">
            <a:extLst xmlns:a="http://schemas.openxmlformats.org/drawingml/2006/main">
              <a:ext uri="{FF2B5EF4-FFF2-40B4-BE49-F238E27FC236}">
                <a16:creationId xmlns:a16="http://schemas.microsoft.com/office/drawing/2014/main" id="{18FF9E81-75C7-4CE9-AACF-E1679CCDECE9}"/>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900"/>
              </a:spcAft>
              <a:buNone/>
              <a:defRPr sz="2400">
                <a:solidFill>
                  <a:srgbClr val="000000"/>
                </a:solidFill>
                <a:latin typeface="Helvetica Neue"/>
                <a:ea typeface="Helvetica Neue"/>
                <a:cs typeface="Helvetica Neue"/>
              </a:defRPr>
            </a:pPr>
            <a:r>
              <a:rPr sz="1800" b="1">
                <a:solidFill>
                  <a:srgbClr val="18B98A"/>
                </a:solidFill>
                <a:latin typeface="Helvetica Neue"/>
                <a:ea typeface="Helvetica Neue"/>
                <a:cs typeface="Helvetica Neue"/>
              </a:rPr>
              <a:t>Evidence stays connected</a:t>
            </a:r>
          </a:p>
          <a:p xmlns:a="http://schemas.openxmlformats.org/drawingml/2006/main">
            <a:pPr algn="l">
              <a:lnSpc>
                <a:spcPct val="118000"/>
              </a:lnSpc>
              <a:buNone/>
              <a:defRPr sz="24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Typed edges separate process lineage, activity, alert evidence, correlation, and scenario membership.</a:t>
            </a:r>
            <a:br>
              <a:rPr sz="1425">
                <a:solidFill>
                  <a:srgbClr val="4B5563"/>
                </a:solidFill>
                <a:latin typeface="Helvetica Neue"/>
                <a:ea typeface="Helvetica Neue"/>
                <a:cs typeface="Helvetica Neue"/>
              </a:rPr>
            </a:br>
            <a:r>
              <a:rPr sz="1425" b="0">
                <a:solidFill>
                  <a:srgbClr val="4B5563"/>
                </a:solidFill>
                <a:latin typeface="Helvetica Neue"/>
                <a:ea typeface="Helvetica Neue"/>
                <a:cs typeface="Helvetica Neue"/>
              </a:rPr>
              <a:t>Filters, replay, clustering, and evidence highlighting preserve investigative context.</a:t>
            </a:r>
            <a:br>
              <a:rPr sz="1425">
                <a:solidFill>
                  <a:srgbClr val="4B5563"/>
                </a:solidFill>
                <a:latin typeface="Helvetica Neue"/>
                <a:ea typeface="Helvetica Neue"/>
                <a:cs typeface="Helvetica Neue"/>
              </a:rPr>
            </a:br>
            <a:r>
              <a:rPr sz="1425" b="0">
                <a:solidFill>
                  <a:srgbClr val="4B5563"/>
                </a:solidFill>
                <a:latin typeface="Helvetica Neue"/>
                <a:ea typeface="Helvetica Neue"/>
                <a:cs typeface="Helvetica Neue"/>
              </a:rPr>
              <a:t>A bounded query and accessible event list keep the graph usable and reviewable.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b15c65827934c8d"/>
          <a:stretch xmlns:a="http://schemas.openxmlformats.org/drawingml/2006/main"/>
        </p:blipFill>
        <p:spPr>
          <a:xfrm xmlns:a="http://schemas.openxmlformats.org/drawingml/2006/main">
            <a:off x="6269069" y="768040"/>
            <a:ext cx="5539740" cy="4858814"/>
          </a:xfrm>
          <a:prstGeom xmlns:a="http://schemas.openxmlformats.org/drawingml/2006/main" prst="roundRect">
            <a:avLst>
              <a:gd name="adj" fmla="val 2063"/>
            </a:avLst>
          </a:prstGeom>
        </p:spPr>
      </p:pic>
    </p:spTree>
    <p:extLst>
      <p:ext uri="{BB962C8B-B14F-4D97-AF65-F5344CB8AC3E}">
        <p14:creationId xmlns:p14="http://schemas.microsoft.com/office/powerpoint/2010/main" val="15846247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5B1061F7-6E4C-4F68-8100-E65321830B6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A089B640-E47B-4A58-945E-3169729DC7F0}"/>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Secure defaults make the safe path the easy path</a:t>
            </a:r>
          </a:p>
        </p:txBody>
      </p:sp>
      <p:sp>
        <p:nvSpPr>
          <p:cNvPr id="3" name="Rounded-Rectangle-1-4">
            <a:extLst xmlns:a="http://schemas.openxmlformats.org/drawingml/2006/main">
              <a:ext uri="{FF2B5EF4-FFF2-40B4-BE49-F238E27FC236}">
                <a16:creationId xmlns:a16="http://schemas.microsoft.com/office/drawing/2014/main" id="{9CAD7B75-5C3E-45F3-A7DA-40747571C174}"/>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745EAEF6-B30A-46EF-9E11-48EB7EEDE1DD}"/>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Constrained external edge</a:t>
            </a:r>
          </a:p>
        </p:txBody>
      </p:sp>
      <p:sp>
        <p:nvSpPr>
          <p:cNvPr id="5" name="Content-Placeholder-15-6">
            <a:extLst xmlns:a="http://schemas.openxmlformats.org/drawingml/2006/main">
              <a:ext uri="{FF2B5EF4-FFF2-40B4-BE49-F238E27FC236}">
                <a16:creationId xmlns:a16="http://schemas.microsoft.com/office/drawing/2014/main" id="{227CECD9-0AA4-4760-A8F6-BB0C91B98E3B}"/>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UI and API bind to loopback</a:t>
            </a:r>
          </a:p>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Enrollment, admin, and sensor credentials are separate</a:t>
            </a:r>
          </a:p>
          <a:p xmlns:a="http://schemas.openxmlformats.org/drawingml/2006/main">
            <a:pPr marL="228600" indent="-228600" algn="l">
              <a:lnSpc>
                <a:spcPct val="112000"/>
              </a:lnSpc>
              <a:spcAft>
                <a:spcPts val="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Schemas, batches, bodies, and spools are bounded</a:t>
            </a:r>
          </a:p>
        </p:txBody>
      </p:sp>
      <p:sp>
        <p:nvSpPr>
          <p:cNvPr id="6" name="Rounded-Rectangle-7-7">
            <a:extLst xmlns:a="http://schemas.openxmlformats.org/drawingml/2006/main">
              <a:ext uri="{FF2B5EF4-FFF2-40B4-BE49-F238E27FC236}">
                <a16:creationId xmlns:a16="http://schemas.microsoft.com/office/drawing/2014/main" id="{2C877C8B-E81C-4C68-AA6C-89EF9E0EF3EC}"/>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E79A89D7-3C60-4479-9312-819965326B1F}"/>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Contained internal plane</a:t>
            </a:r>
          </a:p>
        </p:txBody>
      </p:sp>
      <p:sp>
        <p:nvSpPr>
          <p:cNvPr id="8" name="Content-Placeholder-15-9">
            <a:extLst xmlns:a="http://schemas.openxmlformats.org/drawingml/2006/main">
              <a:ext uri="{FF2B5EF4-FFF2-40B4-BE49-F238E27FC236}">
                <a16:creationId xmlns:a16="http://schemas.microsoft.com/office/drawing/2014/main" id="{F3DDDC35-62DD-487C-B198-73BD8D013CF2}"/>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PostgreSQL is never published</a:t>
            </a:r>
          </a:p>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Token digests + pepper; parameterized queries</a:t>
            </a:r>
          </a:p>
          <a:p xmlns:a="http://schemas.openxmlformats.org/drawingml/2006/main">
            <a:pPr marL="228600" indent="-228600" algn="l">
              <a:lnSpc>
                <a:spcPct val="112000"/>
              </a:lnSpc>
              <a:spcAft>
                <a:spcPts val="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Non-root containers, cap drop, no-new-privileges</a:t>
            </a:r>
          </a:p>
        </p:txBody>
      </p:sp>
      <p:sp>
        <p:nvSpPr>
          <p:cNvPr id="9" name="Content-Placeholder-15-10">
            <a:extLst xmlns:a="http://schemas.openxmlformats.org/drawingml/2006/main">
              <a:ext uri="{FF2B5EF4-FFF2-40B4-BE49-F238E27FC236}">
                <a16:creationId xmlns:a16="http://schemas.microsoft.com/office/drawing/2014/main" id="{62947B52-EDAC-46E9-A2F7-95D64C9FA13F}"/>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500"/>
              </a:spcAft>
              <a:buNone/>
              <a:defRPr sz="1600">
                <a:solidFill>
                  <a:srgbClr val="000000"/>
                </a:solidFill>
                <a:latin typeface="Helvetica Neue"/>
                <a:ea typeface="Helvetica Neue"/>
                <a:cs typeface="Helvetica Neue"/>
              </a:defRPr>
            </a:pPr>
            <a:r>
              <a:rPr sz="1500" b="1">
                <a:solidFill>
                  <a:srgbClr val="18B98A"/>
                </a:solidFill>
                <a:latin typeface="Helvetica Neue"/>
                <a:ea typeface="Helvetica Neue"/>
                <a:cs typeface="Helvetica Neue"/>
              </a:rPr>
              <a:t>Layered controls</a:t>
            </a:r>
          </a:p>
          <a:p xmlns:a="http://schemas.openxmlformats.org/drawingml/2006/main">
            <a:pPr algn="l">
              <a:lnSpc>
                <a:spcPct val="112000"/>
              </a:lnSpc>
              <a:spcAft>
                <a:spcPts val="0"/>
              </a:spcAft>
              <a:buNone/>
              <a:defRPr sz="16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Network exposure, identity, request bounds, process privileges, and lab execution are constrained independently.</a:t>
            </a:r>
          </a:p>
          <a:p xmlns:a="http://schemas.openxmlformats.org/drawingml/2006/main">
            <a:pPr algn="l">
              <a:lnSpc>
                <a:spcPct val="112000"/>
              </a:lnSpc>
              <a:spcAft>
                <a:spcPts val="0"/>
              </a:spcAft>
              <a:buNone/>
              <a:defRPr sz="16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A single misconfiguration should not silently turn a local research stack into an internet-facing control plane.</a:t>
            </a:r>
          </a:p>
        </p:txBody>
      </p:sp>
    </p:spTree>
    <p:extLst>
      <p:ext uri="{BB962C8B-B14F-4D97-AF65-F5344CB8AC3E}">
        <p14:creationId xmlns:p14="http://schemas.microsoft.com/office/powerpoint/2010/main" val="11681942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Placeholder-3-2">
            <a:extLst xmlns:a="http://schemas.openxmlformats.org/drawingml/2006/main">
              <a:ext uri="{FF2B5EF4-FFF2-40B4-BE49-F238E27FC236}">
                <a16:creationId xmlns:a16="http://schemas.microsoft.com/office/drawing/2014/main" id="{7C224675-BD21-43BE-BB19-715F5071F51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Title-10-3">
            <a:extLst xmlns:a="http://schemas.openxmlformats.org/drawingml/2006/main">
              <a:ext uri="{FF2B5EF4-FFF2-40B4-BE49-F238E27FC236}">
                <a16:creationId xmlns:a16="http://schemas.microsoft.com/office/drawing/2014/main" id="{8E43A5CB-3CE2-43F3-8444-D93B0F47BA0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Validation crosses every implementation boundary</a:t>
            </a:r>
          </a:p>
        </p:txBody>
      </p:sp>
      <p:sp>
        <p:nvSpPr>
          <p:cNvPr id="3" name="Content-Placeholder-15-4">
            <a:extLst xmlns:a="http://schemas.openxmlformats.org/drawingml/2006/main">
              <a:ext uri="{FF2B5EF4-FFF2-40B4-BE49-F238E27FC236}">
                <a16:creationId xmlns:a16="http://schemas.microsoft.com/office/drawing/2014/main" id="{BE429550-AB25-48C5-9E0C-B023069CB7A7}"/>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6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46</a:t>
            </a:r>
          </a:p>
          <a:p xmlns:a="http://schemas.openxmlformats.org/drawingml/2006/main">
            <a:pPr algn="l">
              <a:lnSpc>
                <a:spcPct val="115000"/>
              </a:lnSpc>
              <a:spcAft>
                <a:spcPts val="0"/>
              </a:spcAft>
              <a:buNone/>
              <a:defRPr sz="16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simulation safety assertions</a:t>
            </a:r>
          </a:p>
        </p:txBody>
      </p:sp>
      <p:sp>
        <p:nvSpPr>
          <p:cNvPr id="4" name="Text-Placeholder-16-5">
            <a:extLst xmlns:a="http://schemas.openxmlformats.org/drawingml/2006/main">
              <a:ext uri="{FF2B5EF4-FFF2-40B4-BE49-F238E27FC236}">
                <a16:creationId xmlns:a16="http://schemas.microsoft.com/office/drawing/2014/main" id="{1E207822-C084-4C3F-9FA4-835990A9825E}"/>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8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5</a:t>
            </a:r>
          </a:p>
          <a:p xmlns:a="http://schemas.openxmlformats.org/drawingml/2006/main">
            <a:pPr algn="l">
              <a:lnSpc>
                <a:spcPct val="115000"/>
              </a:lnSpc>
              <a:spcAft>
                <a:spcPts val="0"/>
              </a:spcAft>
              <a:buNone/>
              <a:defRPr sz="18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Playwright flows</a:t>
            </a:r>
          </a:p>
        </p:txBody>
      </p:sp>
      <p:sp>
        <p:nvSpPr>
          <p:cNvPr id="5" name="Content-Placeholder-17-6">
            <a:extLst xmlns:a="http://schemas.openxmlformats.org/drawingml/2006/main">
              <a:ext uri="{FF2B5EF4-FFF2-40B4-BE49-F238E27FC236}">
                <a16:creationId xmlns:a16="http://schemas.microsoft.com/office/drawing/2014/main" id="{C87B6A96-E193-46ED-BE65-D1A08CD35008}"/>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6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7</a:t>
            </a:r>
          </a:p>
          <a:p xmlns:a="http://schemas.openxmlformats.org/drawingml/2006/main">
            <a:pPr algn="l">
              <a:lnSpc>
                <a:spcPct val="115000"/>
              </a:lnSpc>
              <a:spcAft>
                <a:spcPts val="0"/>
              </a:spcAft>
              <a:buNone/>
              <a:defRPr sz="16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rules validated</a:t>
            </a:r>
          </a:p>
        </p:txBody>
      </p:sp>
      <p:sp>
        <p:nvSpPr>
          <p:cNvPr id="6" name="Text-Placeholder-18-7">
            <a:extLst xmlns:a="http://schemas.openxmlformats.org/drawingml/2006/main">
              <a:ext uri="{FF2B5EF4-FFF2-40B4-BE49-F238E27FC236}">
                <a16:creationId xmlns:a16="http://schemas.microsoft.com/office/drawing/2014/main" id="{3D2DCFB3-A7E3-479B-A593-03A564CD7142}"/>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8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t>
            </a:r>
          </a:p>
          <a:p xmlns:a="http://schemas.openxmlformats.org/drawingml/2006/main">
            <a:pPr algn="l">
              <a:lnSpc>
                <a:spcPct val="115000"/>
              </a:lnSpc>
              <a:spcAft>
                <a:spcPts val="0"/>
              </a:spcAft>
              <a:buNone/>
              <a:defRPr sz="18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idempotent demo replay</a:t>
            </a:r>
          </a:p>
        </p:txBody>
      </p:sp>
      <p:sp>
        <p:nvSpPr>
          <p:cNvPr id="7" name="Content-Placeholder-15-8">
            <a:extLst xmlns:a="http://schemas.openxmlformats.org/drawingml/2006/main">
              <a:ext uri="{FF2B5EF4-FFF2-40B4-BE49-F238E27FC236}">
                <a16:creationId xmlns:a16="http://schemas.microsoft.com/office/drawing/2014/main" id="{304308DB-4C96-4E73-B894-83DE60730C33}"/>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6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29</a:t>
            </a:r>
          </a:p>
          <a:p xmlns:a="http://schemas.openxmlformats.org/drawingml/2006/main">
            <a:pPr algn="l">
              <a:lnSpc>
                <a:spcPct val="115000"/>
              </a:lnSpc>
              <a:spcAft>
                <a:spcPts val="0"/>
              </a:spcAft>
              <a:buNone/>
              <a:defRPr sz="16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backend pytest</a:t>
            </a:r>
          </a:p>
        </p:txBody>
      </p:sp>
      <p:sp>
        <p:nvSpPr>
          <p:cNvPr id="8" name="Text-Placeholder-16-9">
            <a:extLst xmlns:a="http://schemas.openxmlformats.org/drawingml/2006/main">
              <a:ext uri="{FF2B5EF4-FFF2-40B4-BE49-F238E27FC236}">
                <a16:creationId xmlns:a16="http://schemas.microsoft.com/office/drawing/2014/main" id="{F325BC21-CD93-4E5A-8864-279764B74786}"/>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8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14</a:t>
            </a:r>
          </a:p>
          <a:p xmlns:a="http://schemas.openxmlformats.org/drawingml/2006/main">
            <a:pPr algn="l">
              <a:lnSpc>
                <a:spcPct val="115000"/>
              </a:lnSpc>
              <a:spcAft>
                <a:spcPts val="0"/>
              </a:spcAft>
              <a:buNone/>
              <a:defRPr sz="18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frontend tests</a:t>
            </a:r>
          </a:p>
        </p:txBody>
      </p:sp>
      <p:sp>
        <p:nvSpPr>
          <p:cNvPr id="9" name="Content-Placeholder-17-10">
            <a:extLst xmlns:a="http://schemas.openxmlformats.org/drawingml/2006/main">
              <a:ext uri="{FF2B5EF4-FFF2-40B4-BE49-F238E27FC236}">
                <a16:creationId xmlns:a16="http://schemas.microsoft.com/office/drawing/2014/main" id="{59EBE92B-C365-40A7-87FC-1F94B4C47F47}"/>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6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4</a:t>
            </a:r>
          </a:p>
          <a:p xmlns:a="http://schemas.openxmlformats.org/drawingml/2006/main">
            <a:pPr algn="l">
              <a:lnSpc>
                <a:spcPct val="115000"/>
              </a:lnSpc>
              <a:spcAft>
                <a:spcPts val="0"/>
              </a:spcAft>
              <a:buNone/>
              <a:defRPr sz="16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CLI tests</a:t>
            </a:r>
          </a:p>
        </p:txBody>
      </p:sp>
      <p:sp>
        <p:nvSpPr>
          <p:cNvPr id="10" name="Text-Placeholder-18-11">
            <a:extLst xmlns:a="http://schemas.openxmlformats.org/drawingml/2006/main">
              <a:ext uri="{FF2B5EF4-FFF2-40B4-BE49-F238E27FC236}">
                <a16:creationId xmlns:a16="http://schemas.microsoft.com/office/drawing/2014/main" id="{F9122FC3-012F-4B18-830C-59C3177A8A67}"/>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700"/>
              </a:spcAft>
              <a:buNone/>
              <a:defRPr sz="18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22</a:t>
            </a:r>
          </a:p>
          <a:p xmlns:a="http://schemas.openxmlformats.org/drawingml/2006/main">
            <a:pPr algn="l">
              <a:lnSpc>
                <a:spcPct val="115000"/>
              </a:lnSpc>
              <a:spcAft>
                <a:spcPts val="0"/>
              </a:spcAft>
              <a:buNone/>
              <a:defRPr sz="1800">
                <a:solidFill>
                  <a:srgbClr val="000000"/>
                </a:solidFill>
                <a:latin typeface="Helvetica Neue"/>
                <a:ea typeface="Helvetica Neue"/>
                <a:cs typeface="Helvetica Neue"/>
              </a:defRPr>
            </a:pPr>
            <a:r>
              <a:rPr sz="1275" b="0">
                <a:solidFill>
                  <a:srgbClr val="4B5563"/>
                </a:solidFill>
                <a:latin typeface="Helvetica Neue"/>
                <a:ea typeface="Helvetica Neue"/>
                <a:cs typeface="Helvetica Neue"/>
              </a:rPr>
              <a:t>.NET xUnit tests</a:t>
            </a:r>
          </a:p>
        </p:txBody>
      </p:sp>
      <p:sp>
        <p:nvSpPr>
          <p:cNvPr id="11" name="SentinelForge-subtitle">
            <a:extLst xmlns:a="http://schemas.openxmlformats.org/drawingml/2006/main">
              <a:ext uri="{FF2B5EF4-FFF2-40B4-BE49-F238E27FC236}">
                <a16:creationId xmlns:a16="http://schemas.microsoft.com/office/drawing/2014/main" id="{09ECAF74-C223-46B5-BA32-68BC8652A589}"/>
              </a:ext>
            </a:extLst>
          </p:cNvPr>
          <p:cNvSpPr>
            <a:spLocks xmlns:a="http://schemas.openxmlformats.org/drawingml/2006/main" noGrp="1"/>
          </p:cNvSpPr>
          <p:nvPr/>
        </p:nvSpPr>
        <p:spPr>
          <a:xfrm xmlns:a="http://schemas.openxmlformats.org/drawingml/2006/main">
            <a:off x="393668" y="12573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B5563"/>
                </a:solidFill>
                <a:latin typeface="Helvetica Neue"/>
                <a:ea typeface="Helvetica Neue"/>
                <a:cs typeface="Helvetica Neue"/>
              </a:defRPr>
            </a:pPr>
            <a:r>
              <a:rPr sz="1350">
                <a:solidFill>
                  <a:srgbClr val="4B5563"/>
                </a:solidFill>
                <a:latin typeface="Helvetica Neue"/>
                <a:ea typeface="Helvetica Neue"/>
                <a:cs typeface="Helvetica Neue"/>
              </a:rPr>
              <a:t>Executed for the repository state recorded 2026-07-27 · these are regression counts, not effectiveness or scale metrics</a:t>
            </a:r>
          </a:p>
        </p:txBody>
      </p:sp>
    </p:spTree>
    <p:extLst>
      <p:ext uri="{BB962C8B-B14F-4D97-AF65-F5344CB8AC3E}">
        <p14:creationId xmlns:p14="http://schemas.microsoft.com/office/powerpoint/2010/main" val="113873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14D0F40-6F85-4796-8CDA-B16F84E663FA}"/>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Title-2-3">
            <a:extLst xmlns:a="http://schemas.openxmlformats.org/drawingml/2006/main">
              <a:ext uri="{FF2B5EF4-FFF2-40B4-BE49-F238E27FC236}">
                <a16:creationId xmlns:a16="http://schemas.microsoft.com/office/drawing/2014/main" id="{34AA0088-42B0-4011-9BBD-D2A59FCB9E2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 connect security logic to shipped software</a:t>
            </a:r>
          </a:p>
        </p:txBody>
      </p:sp>
      <p:sp>
        <p:nvSpPr>
          <p:cNvPr id="3" name="Content-Placeholder-9-4">
            <a:extLst xmlns:a="http://schemas.openxmlformats.org/drawingml/2006/main">
              <a:ext uri="{FF2B5EF4-FFF2-40B4-BE49-F238E27FC236}">
                <a16:creationId xmlns:a16="http://schemas.microsoft.com/office/drawing/2014/main" id="{5D44F4A7-84F2-4780-B2FF-BD68EC222266}"/>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Security architecture</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Translate threat models into trust boundaries, privilege constraints, authenticated interfaces, and failure-safe defaults.</a:t>
            </a:r>
          </a:p>
        </p:txBody>
      </p:sp>
      <p:sp>
        <p:nvSpPr>
          <p:cNvPr id="4" name="Content-Placeholder-10-5">
            <a:extLst xmlns:a="http://schemas.openxmlformats.org/drawingml/2006/main">
              <a:ext uri="{FF2B5EF4-FFF2-40B4-BE49-F238E27FC236}">
                <a16:creationId xmlns:a16="http://schemas.microsoft.com/office/drawing/2014/main" id="{2584B9E4-AC99-47F4-8A9C-4EE26AB5768D}"/>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Endpoint engineering</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Work across Sysmon semantics, Windows service constraints, C# durability, identity protection, and bounded retry behavior.</a:t>
            </a:r>
          </a:p>
        </p:txBody>
      </p:sp>
      <p:sp>
        <p:nvSpPr>
          <p:cNvPr id="5" name="Content-Placeholder-9-6">
            <a:extLst xmlns:a="http://schemas.openxmlformats.org/drawingml/2006/main">
              <a:ext uri="{FF2B5EF4-FFF2-40B4-BE49-F238E27FC236}">
                <a16:creationId xmlns:a16="http://schemas.microsoft.com/office/drawing/2014/main" id="{F1D89498-DCEB-4B32-8030-D31944F6B7B6}"/>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Detection engineering</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Map ATT&amp;CK behaviors into validated Sigma-like rules, stateful correlation, evidence, and false-positive guidance.</a:t>
            </a:r>
          </a:p>
        </p:txBody>
      </p:sp>
      <p:sp>
        <p:nvSpPr>
          <p:cNvPr id="6" name="Content-Placeholder-10-7">
            <a:extLst xmlns:a="http://schemas.openxmlformats.org/drawingml/2006/main">
              <a:ext uri="{FF2B5EF4-FFF2-40B4-BE49-F238E27FC236}">
                <a16:creationId xmlns:a16="http://schemas.microsoft.com/office/drawing/2014/main" id="{EC872118-4C02-49D7-836D-89EF549346C8}"/>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12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Product delivery</a:t>
            </a:r>
          </a:p>
          <a:p xmlns:a="http://schemas.openxmlformats.org/drawingml/2006/main">
            <a:pPr algn="l">
              <a:lnSpc>
                <a:spcPct val="115000"/>
              </a:lnSpc>
              <a:spcAft>
                <a:spcPts val="0"/>
              </a:spcAft>
              <a:buNone/>
              <a:defRPr sz="2400">
                <a:solidFill>
                  <a:srgbClr val="000000"/>
                </a:solidFill>
                <a:latin typeface="Helvetica Neue"/>
                <a:ea typeface="Helvetica Neue"/>
                <a:cs typeface="Helvetica Neue"/>
              </a:defRPr>
            </a:pPr>
            <a:r>
              <a:rPr sz="1350" b="0">
                <a:solidFill>
                  <a:srgbClr val="4B5563"/>
                </a:solidFill>
                <a:latin typeface="Helvetica Neue"/>
                <a:ea typeface="Helvetica Neue"/>
                <a:cs typeface="Helvetica Neue"/>
              </a:rPr>
              <a:t>Ship FastAPI, PostgreSQL, React, Cytoscape, PowerShell, Docker, tests, CI, ADRs, and operational documentation as one system.</a:t>
            </a:r>
          </a:p>
        </p:txBody>
      </p:sp>
    </p:spTree>
    <p:extLst>
      <p:ext uri="{BB962C8B-B14F-4D97-AF65-F5344CB8AC3E}">
        <p14:creationId xmlns:p14="http://schemas.microsoft.com/office/powerpoint/2010/main" val="12909451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EB8B4A1B-84AE-4F2B-992A-E0000F83075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Google-Shape-533-p58-3">
            <a:extLst xmlns:a="http://schemas.openxmlformats.org/drawingml/2006/main">
              <a:ext uri="{FF2B5EF4-FFF2-40B4-BE49-F238E27FC236}">
                <a16:creationId xmlns:a16="http://schemas.microsoft.com/office/drawing/2014/main" id="{AF6A267E-40BB-4797-8CD8-4701E08C39F7}"/>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600"/>
              </a:spcAft>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strongest claim includes its boundary</a:t>
            </a:r>
          </a:p>
        </p:txBody>
      </p:sp>
      <p:sp>
        <p:nvSpPr>
          <p:cNvPr id="3" name="Rounded-Rectangle-1-4">
            <a:extLst xmlns:a="http://schemas.openxmlformats.org/drawingml/2006/main">
              <a:ext uri="{FF2B5EF4-FFF2-40B4-BE49-F238E27FC236}">
                <a16:creationId xmlns:a16="http://schemas.microsoft.com/office/drawing/2014/main" id="{CD11A80B-5F97-4653-AD80-D45680976BC5}"/>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9D879D0-DB97-429F-BC37-CC54482BC9E5}"/>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Proven here</a:t>
            </a:r>
          </a:p>
        </p:txBody>
      </p:sp>
      <p:sp>
        <p:nvSpPr>
          <p:cNvPr id="5" name="Content-Placeholder-15-6">
            <a:extLst xmlns:a="http://schemas.openxmlformats.org/drawingml/2006/main">
              <a:ext uri="{FF2B5EF4-FFF2-40B4-BE49-F238E27FC236}">
                <a16:creationId xmlns:a16="http://schemas.microsoft.com/office/drawing/2014/main" id="{F69379D2-6290-4C2E-93A1-374E470DF4DA}"/>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Deterministic, reversible lab behavior</a:t>
            </a:r>
          </a:p>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Authenticated ingestion + explainable alerts</a:t>
            </a:r>
          </a:p>
          <a:p xmlns:a="http://schemas.openxmlformats.org/drawingml/2006/main">
            <a:pPr marL="228600" indent="-228600" algn="l">
              <a:lnSpc>
                <a:spcPct val="112000"/>
              </a:lnSpc>
              <a:spcAft>
                <a:spcPts val="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Compose reproducibility + regression evidence</a:t>
            </a:r>
          </a:p>
        </p:txBody>
      </p:sp>
      <p:sp>
        <p:nvSpPr>
          <p:cNvPr id="6" name="Rounded-Rectangle-7-7">
            <a:extLst xmlns:a="http://schemas.openxmlformats.org/drawingml/2006/main">
              <a:ext uri="{FF2B5EF4-FFF2-40B4-BE49-F238E27FC236}">
                <a16:creationId xmlns:a16="http://schemas.microsoft.com/office/drawing/2014/main" id="{C4230927-B0B2-480D-9F77-EFA7AC74611E}"/>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E3317585-CA3E-4723-AEC7-FD6F51D3ECB5}"/>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6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Not proven here</a:t>
            </a:r>
          </a:p>
        </p:txBody>
      </p:sp>
      <p:sp>
        <p:nvSpPr>
          <p:cNvPr id="8" name="Content-Placeholder-15-9">
            <a:extLst xmlns:a="http://schemas.openxmlformats.org/drawingml/2006/main">
              <a:ext uri="{FF2B5EF4-FFF2-40B4-BE49-F238E27FC236}">
                <a16:creationId xmlns:a16="http://schemas.microsoft.com/office/drawing/2014/main" id="{4A4D9426-AD39-4AD6-A8F5-830EFF1B33AE}"/>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EDR/SIEM equivalence or full ATT&amp;CK/Sigma</a:t>
            </a:r>
          </a:p>
          <a:p xmlns:a="http://schemas.openxmlformats.org/drawingml/2006/main">
            <a:pPr marL="228600" indent="-228600" algn="l">
              <a:lnSpc>
                <a:spcPct val="112000"/>
              </a:lnSpc>
              <a:spcAft>
                <a:spcPts val="45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Real Sysmon service and non-dry Windows runs</a:t>
            </a:r>
          </a:p>
          <a:p xmlns:a="http://schemas.openxmlformats.org/drawingml/2006/main">
            <a:pPr marL="228600" indent="-228600" algn="l">
              <a:lnSpc>
                <a:spcPct val="112000"/>
              </a:lnSpc>
              <a:spcAft>
                <a:spcPts val="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Internet-facing, distributed, or performance scale</a:t>
            </a:r>
          </a:p>
        </p:txBody>
      </p:sp>
      <p:sp>
        <p:nvSpPr>
          <p:cNvPr id="9" name="Content-Placeholder-15-10">
            <a:extLst xmlns:a="http://schemas.openxmlformats.org/drawingml/2006/main">
              <a:ext uri="{FF2B5EF4-FFF2-40B4-BE49-F238E27FC236}">
                <a16:creationId xmlns:a16="http://schemas.microsoft.com/office/drawing/2014/main" id="{515EA33F-9759-45F9-838D-1B91F2120B82}"/>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2000"/>
              </a:lnSpc>
              <a:spcAft>
                <a:spcPts val="500"/>
              </a:spcAft>
              <a:buNone/>
              <a:defRPr sz="1600">
                <a:solidFill>
                  <a:srgbClr val="000000"/>
                </a:solidFill>
                <a:latin typeface="Helvetica Neue"/>
                <a:ea typeface="Helvetica Neue"/>
                <a:cs typeface="Helvetica Neue"/>
              </a:defRPr>
            </a:pPr>
            <a:r>
              <a:rPr sz="1500" b="1">
                <a:solidFill>
                  <a:srgbClr val="18B98A"/>
                </a:solidFill>
                <a:latin typeface="Helvetica Neue"/>
                <a:ea typeface="Helvetica Neue"/>
                <a:cs typeface="Helvetica Neue"/>
              </a:rPr>
              <a:t>Engineering judgment is part of the deliverable</a:t>
            </a:r>
          </a:p>
          <a:p xmlns:a="http://schemas.openxmlformats.org/drawingml/2006/main">
            <a:pPr algn="l">
              <a:lnSpc>
                <a:spcPct val="112000"/>
              </a:lnSpc>
              <a:spcAft>
                <a:spcPts val="0"/>
              </a:spcAft>
              <a:buNone/>
              <a:defRPr sz="16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SentinelForge proves a reproducible, inspectable defensive lab and the discipline to state exactly what its evidence supports.</a:t>
            </a:r>
          </a:p>
          <a:p xmlns:a="http://schemas.openxmlformats.org/drawingml/2006/main">
            <a:pPr algn="l">
              <a:lnSpc>
                <a:spcPct val="112000"/>
              </a:lnSpc>
              <a:spcAft>
                <a:spcPts val="0"/>
              </a:spcAft>
              <a:buNone/>
              <a:defRPr sz="1600">
                <a:solidFill>
                  <a:srgbClr val="000000"/>
                </a:solidFill>
                <a:latin typeface="Helvetica Neue"/>
                <a:ea typeface="Helvetica Neue"/>
                <a:cs typeface="Helvetica Neue"/>
              </a:defRPr>
            </a:pPr>
            <a:r>
              <a:rPr sz="1425" b="0">
                <a:solidFill>
                  <a:srgbClr val="4B5563"/>
                </a:solidFill>
                <a:latin typeface="Helvetica Neue"/>
                <a:ea typeface="Helvetica Neue"/>
                <a:cs typeface="Helvetica Neue"/>
              </a:rPr>
              <a:t>It does not turn synthetic validation into a claim of enterprise EDR or SIEM equivalence.</a:t>
            </a:r>
          </a:p>
        </p:txBody>
      </p:sp>
    </p:spTree>
    <p:extLst>
      <p:ext uri="{BB962C8B-B14F-4D97-AF65-F5344CB8AC3E}">
        <p14:creationId xmlns:p14="http://schemas.microsoft.com/office/powerpoint/2010/main" val="1841018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2026-08-08T01:21:31.7420000Z</dcterms:created>
  <dcterms:modified xsi:type="dcterms:W3CDTF">2026-08-08T01:21:31.7420000Z</dcterms:modified>
</coreProperties>
</file>